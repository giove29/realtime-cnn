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fd99cd46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9fd99cd46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9fd99cd46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fd99cd46_3_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f9fd99cd46_3_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9fd99cd46_3_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fd99cd46_3_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9fd99cd46_3_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9fd99cd46_3_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fd99cd46_3_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9fd99cd46_3_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9fd99cd46_3_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fd99cd46_3_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9fd99cd46_3_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9fd99cd46_3_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fd99cd46_3_1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9fd99cd46_3_1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9fd99cd46_3_1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fd99cd46_3_1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9fd99cd46_3_1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9fd99cd46_3_1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fd99cd46_3_1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9fd99cd46_3_1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9fd99cd46_3_1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fd99cd46_3_1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fd99cd46_3_1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fd99cd46_3_1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9fd99cd46_3_2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9fd99cd46_3_2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9fd99cd46_3_2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fd99cd46_3_2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9fd99cd46_3_2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9fd99cd46_3_2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fd99cd46_3_2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9fd99cd46_3_2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9fd99cd46_3_2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9fd99cd46_3_29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f9fd99cd46_3_29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9fd99cd46_3_29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9fd99cd46_3_3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9fd99cd46_3_3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9fd99cd46_3_3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C3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17220" y="1419606"/>
            <a:ext cx="788670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mbria"/>
              <a:buNone/>
            </a:pPr>
            <a:r>
              <a:rPr b="1" i="0" lang="it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Smart City Audio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17220" y="2297430"/>
            <a:ext cx="78867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Un microfono che ascolta la città senza registrarla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17220" y="3263036"/>
            <a:ext cx="5212080" cy="1360628"/>
          </a:xfrm>
          <a:prstGeom prst="roundRect">
            <a:avLst>
              <a:gd fmla="val 4032" name="adj"/>
            </a:avLst>
          </a:prstGeom>
          <a:solidFill>
            <a:srgbClr val="1E2761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88670" y="3456432"/>
            <a:ext cx="4869180" cy="965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Comune di Trento, 2024 — il Garante privacy sanziona un progetto di sorveglianza acustica: i microfoni trasmettevano audio in chiaro, riconoscibile.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17220" y="4766310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C4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8FA0C4"/>
                </a:solidFill>
                <a:latin typeface="Calibri"/>
                <a:ea typeface="Calibri"/>
                <a:cs typeface="Calibri"/>
                <a:sym typeface="Calibri"/>
              </a:rPr>
              <a:t>Real Time Embedded System · Raspberry Pi Pico · FreeRTOS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IL PROBLEMA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Il suono non esce mai dal dispositivo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617220" y="1156259"/>
            <a:ext cx="3840480" cy="1755648"/>
          </a:xfrm>
          <a:prstGeom prst="roundRect">
            <a:avLst>
              <a:gd fmla="val 3125" name="adj"/>
            </a:avLst>
          </a:prstGeom>
          <a:solidFill>
            <a:srgbClr val="FBECE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809244" y="1307135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Approccio tradizionale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809244" y="1554022"/>
            <a:ext cx="3456432" cy="1193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Il microfono trasmette l'audio a un server, che lo analizza.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Voci e conversazioni viaggiano in chiaro: sono dati personali.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32020" y="1156259"/>
            <a:ext cx="3840480" cy="1755648"/>
          </a:xfrm>
          <a:prstGeom prst="roundRect">
            <a:avLst>
              <a:gd fmla="val 3125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924044" y="1307135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Approccio adottato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924044" y="1554022"/>
            <a:ext cx="3456432" cy="1193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Il microcontrollore classifica a bordo e trasmette solo un'etichetta.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Nessun audio lascia il dispositivo durante il funzionamento normale.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17220" y="3306928"/>
            <a:ext cx="274320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Esce dal dispositivo: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17220" y="3658057"/>
            <a:ext cx="7955280" cy="438912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0" i="0" lang="it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{"t1":"Vetri","p1":0.71,"stato":"POSSIBILE_VANDALISMO"}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17220" y="4272534"/>
            <a:ext cx="7955280" cy="351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Una stringa di quaranta byte. Non è ricostruibile in audio, non contiene voce.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core, 264 KB, nessuna virgola mobile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17220" y="1419606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133 MHz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17220" y="1954530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Cortex-M0+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senza FPU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2674620" y="1419606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264 KB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674620" y="1954530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RAM totale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220 usati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732020" y="1419606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 MB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732020" y="1954530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flash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modello e codice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17220" y="3087472"/>
            <a:ext cx="7955400" cy="1316700"/>
          </a:xfrm>
          <a:prstGeom prst="roundRect">
            <a:avLst>
              <a:gd fmla="val 41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809244" y="3238348"/>
            <a:ext cx="7571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 vincolo che decide tutto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809244" y="3485236"/>
            <a:ext cx="7571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Il Cortex-M0+ non ha unità in virgola mobile: ogni moltiplicazione float è emulata via software e costa decine di cicli. Il progetto è stato portato a 200 MHz.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SISTEMA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FreeRTOS, priorità fisse</a:t>
            </a:r>
            <a:r>
              <a:rPr b="1" lang="it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+ </a:t>
            </a: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preemption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17220" y="1244042"/>
            <a:ext cx="3840480" cy="1536192"/>
          </a:xfrm>
          <a:prstGeom prst="roundRect">
            <a:avLst>
              <a:gd fmla="val 3571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809244" y="1394918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Perché un RTOS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09244" y="1641806"/>
            <a:ext cx="3456432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Tre attività con periodi diversi — 32 ms, 496 ms, sporadica — che devono convivere su un core, con prelazione immediata della più urgente.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732020" y="1244042"/>
            <a:ext cx="3840480" cy="1536192"/>
          </a:xfrm>
          <a:prstGeom prst="roundRect">
            <a:avLst>
              <a:gd fmla="val 3571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924044" y="1394918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Perché FreeRTOS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924044" y="1641806"/>
            <a:ext cx="3456432" cy="973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Porting ufficiale per RP2040, integrazione con SDK e DMA, footprint contenuto: 80 KB di heap 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assegnati (utilizzati &lt;50)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617220" y="2955798"/>
            <a:ext cx="7955280" cy="1492301"/>
          </a:xfrm>
          <a:prstGeom prst="roundRect">
            <a:avLst>
              <a:gd fmla="val 3676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809244" y="3106674"/>
            <a:ext cx="75712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Scheduler: priorità fisse con prelazione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809244" y="3353562"/>
            <a:ext cx="7571232" cy="929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L'assegnazione segue Rate Monotonic — periodo più breve, priorità più alta. Non è una convenzione: coincide con l'ordine di urgenza delle scadenze, perché il task con il periodo più corto è anche quello con la scadenza dura.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ARCHITETTURA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Dalla pressione sonora all'etichetta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617220" y="1507388"/>
            <a:ext cx="1440180" cy="1492301"/>
          </a:xfrm>
          <a:prstGeom prst="roundRect">
            <a:avLst>
              <a:gd fmla="val 3810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617220" y="1700784"/>
            <a:ext cx="1440180" cy="28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Microfono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20090" y="2051914"/>
            <a:ext cx="123444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MAX4466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su ADC 12 bit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2098548" y="2147926"/>
            <a:ext cx="150876" cy="210541"/>
          </a:xfrm>
          <a:prstGeom prst="chevron">
            <a:avLst>
              <a:gd fmla="val 500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2276856" y="1507388"/>
            <a:ext cx="1440180" cy="1492301"/>
          </a:xfrm>
          <a:prstGeom prst="roundRect">
            <a:avLst>
              <a:gd fmla="val 3810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2276856" y="1700784"/>
            <a:ext cx="1440180" cy="28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Acquisizione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2379726" y="2051914"/>
            <a:ext cx="123444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48 kHz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DMA </a:t>
            </a:r>
            <a:r>
              <a:rPr lang="it" sz="8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su 2 buffer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758184" y="2147926"/>
            <a:ext cx="150876" cy="210541"/>
          </a:xfrm>
          <a:prstGeom prst="chevron">
            <a:avLst>
              <a:gd fmla="val 500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3936492" y="1507388"/>
            <a:ext cx="1440180" cy="1492301"/>
          </a:xfrm>
          <a:prstGeom prst="roundRect">
            <a:avLst>
              <a:gd fmla="val 3810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936492" y="1700784"/>
            <a:ext cx="1440180" cy="28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039362" y="2051914"/>
            <a:ext cx="123444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FIR, FFT reale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32 bande mel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417820" y="2147926"/>
            <a:ext cx="150876" cy="210541"/>
          </a:xfrm>
          <a:prstGeom prst="chevron">
            <a:avLst>
              <a:gd fmla="val 500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5596128" y="1507388"/>
            <a:ext cx="1440180" cy="1492301"/>
          </a:xfrm>
          <a:prstGeom prst="roundRect">
            <a:avLst>
              <a:gd fmla="val 3810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5596128" y="1700784"/>
            <a:ext cx="1440180" cy="28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698998" y="2051914"/>
            <a:ext cx="123444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int8 quantizzata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8 classi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7077456" y="2147926"/>
            <a:ext cx="150876" cy="210541"/>
          </a:xfrm>
          <a:prstGeom prst="chevron">
            <a:avLst>
              <a:gd fmla="val 50000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7255764" y="1507388"/>
            <a:ext cx="1440180" cy="1492301"/>
          </a:xfrm>
          <a:prstGeom prst="roundRect">
            <a:avLst>
              <a:gd fmla="val 3810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7255764" y="1700784"/>
            <a:ext cx="1440180" cy="28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358634" y="2051914"/>
            <a:ext cx="1234440" cy="790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regole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deterministiche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17220" y="3482492"/>
            <a:ext cx="7955280" cy="526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Ogni blocco ha un costo misurato e una scadenza. È questo che rende il progetto un problema di tempo reale e non solo di riconoscimento audio.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PROGETTO DEI TASK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Tre task, tre priorità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617220" y="1200150"/>
            <a:ext cx="1440180" cy="26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125980" y="1200150"/>
            <a:ext cx="960120" cy="26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Priorità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154680" y="1200150"/>
            <a:ext cx="1920240" cy="26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Attivazione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5143500" y="1200150"/>
            <a:ext cx="3429000" cy="26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Contenuto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17220" y="1551280"/>
            <a:ext cx="7955280" cy="617220"/>
          </a:xfrm>
          <a:prstGeom prst="roundRect">
            <a:avLst>
              <a:gd fmla="val 66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754380" y="1551280"/>
            <a:ext cx="1371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ourier New"/>
              <a:buNone/>
            </a:pPr>
            <a:r>
              <a:rPr b="1" i="0" lang="it" sz="10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Task_DSP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194560" y="1743304"/>
            <a:ext cx="246888" cy="24688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2194560" y="1743304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154680" y="1551280"/>
            <a:ext cx="19202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periodico, 32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143500" y="1551280"/>
            <a:ext cx="34290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Acquisizione,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FIR, decimazione, FFT, 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17220" y="2297430"/>
            <a:ext cx="7955280" cy="617220"/>
          </a:xfrm>
          <a:prstGeom prst="roundRect">
            <a:avLst>
              <a:gd fmla="val 66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754380" y="2297430"/>
            <a:ext cx="1371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ourier New"/>
              <a:buNone/>
            </a:pPr>
            <a:r>
              <a:rPr b="1" i="0" lang="it" sz="10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Task_ML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194560" y="2489454"/>
            <a:ext cx="246888" cy="246888"/>
          </a:xfrm>
          <a:prstGeom prst="ellipse">
            <a:avLst/>
          </a:prstGeom>
          <a:solidFill>
            <a:srgbClr val="2C3A7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2194560" y="2489454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3154680" y="2297430"/>
            <a:ext cx="19202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periodico, 496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143500" y="2297430"/>
            <a:ext cx="34290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Inferenza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macchina a stati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17220" y="3043580"/>
            <a:ext cx="7955280" cy="617220"/>
          </a:xfrm>
          <a:prstGeom prst="roundRect">
            <a:avLst>
              <a:gd fmla="val 66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754380" y="3043580"/>
            <a:ext cx="13716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ourier New"/>
              <a:buNone/>
            </a:pPr>
            <a:r>
              <a:rPr b="1" i="0" lang="it" sz="10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Task_Serial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194560" y="3235604"/>
            <a:ext cx="246888" cy="246888"/>
          </a:xfrm>
          <a:prstGeom prst="ellipse">
            <a:avLst/>
          </a:prstGeom>
          <a:solidFill>
            <a:srgbClr val="3A4A8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2194560" y="3235604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154680" y="3043580"/>
            <a:ext cx="19202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aperiodico (Background Service)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143500" y="3043580"/>
            <a:ext cx="34290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Trasmissione seriale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17220" y="3921404"/>
            <a:ext cx="7955280" cy="395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Più la ISR del DMA, a priorità hardware bassa perché chiama API del kernel, e i task Idle e Timer di FreeRTOS.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OCCUPAZIONE DEL PROCESSORE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Dove va il tempo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287932"/>
            <a:ext cx="4526280" cy="307238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5417820" y="1287932"/>
            <a:ext cx="3154680" cy="1404518"/>
          </a:xfrm>
          <a:prstGeom prst="roundRect">
            <a:avLst>
              <a:gd fmla="val 3906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609844" y="1438808"/>
            <a:ext cx="2770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Task_DSP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609844" y="1685696"/>
            <a:ext cx="2770632" cy="84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Response Time = C =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20,8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 = 32ms</a:t>
            </a:r>
            <a:endParaRPr b="0" i="0" sz="1000" u="none" cap="none" strike="noStrike">
              <a:solidFill>
                <a:srgbClr val="5A62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U = C/T =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65%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417820" y="2955798"/>
            <a:ext cx="3154680" cy="1404518"/>
          </a:xfrm>
          <a:prstGeom prst="roundRect">
            <a:avLst>
              <a:gd fmla="val 3906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609844" y="3106674"/>
            <a:ext cx="27706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Task_ML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09844" y="3353562"/>
            <a:ext cx="2770632" cy="84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esponse Time = 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298ms, C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 = 105ms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 = 496ms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→ U = C/T = 21%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SCHEDULABILITÀ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Il criterio di Rate Monotonic non basta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17220" y="1244042"/>
            <a:ext cx="3840480" cy="2018996"/>
          </a:xfrm>
          <a:prstGeom prst="roundRect">
            <a:avLst>
              <a:gd fmla="val 2717" name="adj"/>
            </a:avLst>
          </a:prstGeom>
          <a:solidFill>
            <a:srgbClr val="FBECE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88670" y="1419606"/>
            <a:ext cx="34975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Limite di Liu e Layland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788670" y="1680210"/>
            <a:ext cx="34975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ourier New"/>
              <a:buNone/>
            </a:pPr>
            <a:r>
              <a:rPr b="0" i="0" lang="it" sz="14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U ≤ n (2^(1/n) − 1)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788670" y="2297430"/>
            <a:ext cx="3497580" cy="307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urier New"/>
              <a:buNone/>
            </a:pPr>
            <a:r>
              <a:rPr b="0" i="0" lang="it" sz="12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con n = </a:t>
            </a:r>
            <a:r>
              <a:rPr lang="it" sz="12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it" sz="12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 →  U ≤ 0,</a:t>
            </a:r>
            <a:r>
              <a:rPr lang="it" sz="1200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828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88670" y="2736342"/>
            <a:ext cx="3497580" cy="351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3A3A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A33A3A"/>
                </a:solidFill>
                <a:latin typeface="Calibri"/>
                <a:ea typeface="Calibri"/>
                <a:cs typeface="Calibri"/>
                <a:sym typeface="Calibri"/>
              </a:rPr>
              <a:t>Il sistema è a 0,86: la condizione NON è soddisfatta.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732020" y="1244042"/>
            <a:ext cx="3840480" cy="2018996"/>
          </a:xfrm>
          <a:prstGeom prst="roundRect">
            <a:avLst>
              <a:gd fmla="val 2717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4924044" y="1394918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 è solo sufficiente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924044" y="1641806"/>
            <a:ext cx="3456432" cy="14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Il criterio garantisce la schedulabilità se soddisfatto, non la esclude se violato. Superarlo obbliga all'analisi esatta dei tempi di risposta, non a riprogettare.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17220" y="3614166"/>
            <a:ext cx="7955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it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Il caso peggiore va calcolato</a:t>
            </a:r>
            <a:r>
              <a:rPr b="1" lang="it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SCHEDULABILITÀ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it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617220" y="1200150"/>
            <a:ext cx="7955280" cy="833932"/>
          </a:xfrm>
          <a:prstGeom prst="roundRect">
            <a:avLst>
              <a:gd fmla="val 657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822960" y="1375715"/>
            <a:ext cx="7543800" cy="482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 = C + Σ ⌈R / T_j⌉ · C_j        con j sui task a priorità maggiore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617220" y="2297430"/>
            <a:ext cx="4251960" cy="351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Task_ML:   R = 105 + ⌈R / 32⌉ · 20,8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54380" y="273634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ourier New"/>
                <a:ea typeface="Courier New"/>
                <a:cs typeface="Courier New"/>
                <a:sym typeface="Courier New"/>
              </a:rPr>
              <a:t>R₀ = 105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754380" y="294208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ourier New"/>
                <a:ea typeface="Courier New"/>
                <a:cs typeface="Courier New"/>
                <a:sym typeface="Courier New"/>
              </a:rPr>
              <a:t>R₁ = 188,2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754380" y="314782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ourier New"/>
                <a:ea typeface="Courier New"/>
                <a:cs typeface="Courier New"/>
                <a:sym typeface="Courier New"/>
              </a:rPr>
              <a:t>R₂ = 229,8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54380" y="335356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ourier New"/>
                <a:ea typeface="Courier New"/>
                <a:cs typeface="Courier New"/>
                <a:sym typeface="Courier New"/>
              </a:rPr>
              <a:t>R₃ = 271,4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54380" y="355930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ourier New"/>
                <a:ea typeface="Courier New"/>
                <a:cs typeface="Courier New"/>
                <a:sym typeface="Courier New"/>
              </a:rPr>
              <a:t>R₄ = 292,2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754380" y="376504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ourier New"/>
              <a:buNone/>
            </a:pPr>
            <a:r>
              <a:rPr b="1" i="0" lang="it" sz="10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R₅ = 313,0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54380" y="3970782"/>
            <a:ext cx="38404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ourier New"/>
              <a:buNone/>
            </a:pPr>
            <a:r>
              <a:rPr b="1" i="0" lang="it" sz="100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R₆ = 313,0  ← punto fisso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074920" y="2297430"/>
            <a:ext cx="3497580" cy="2282342"/>
          </a:xfrm>
          <a:prstGeom prst="roundRect">
            <a:avLst>
              <a:gd fmla="val 2404" name="adj"/>
            </a:avLst>
          </a:prstGeom>
          <a:solidFill>
            <a:srgbClr val="EAF7F2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074920" y="2604668"/>
            <a:ext cx="3497580" cy="702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it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313 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074920" y="3306928"/>
            <a:ext cx="3497580" cy="263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tempo di risposta nel caso peggiore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246370" y="3701948"/>
            <a:ext cx="3154680" cy="702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contro una scadenza di 496 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 sistema schedulabile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ROBUSTEZZA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Sotto sovraccarico si scarta, non si accumula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17275" y="1693125"/>
            <a:ext cx="2537400" cy="1322100"/>
          </a:xfrm>
          <a:prstGeom prst="roundRect">
            <a:avLst>
              <a:gd fmla="val 2976" name="adj"/>
            </a:avLst>
          </a:prstGeom>
          <a:solidFill>
            <a:srgbClr val="FBECE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809298" y="1801326"/>
            <a:ext cx="2153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809298" y="1978383"/>
            <a:ext cx="21534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Una clip occupa il canale seriale per secondi. Eventi ravvicinati la richiederebbero più volte.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3326176" y="1693125"/>
            <a:ext cx="2537400" cy="1322100"/>
          </a:xfrm>
          <a:prstGeom prst="roundRect">
            <a:avLst>
              <a:gd fmla="val 2976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3518200" y="1801326"/>
            <a:ext cx="2153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scelta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518200" y="1978383"/>
            <a:ext cx="21534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Tempo morto di 10 s e buffer congelato. Le richieste in eccesso vengono rifiutate, non messe in coda.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6035077" y="1693125"/>
            <a:ext cx="2537400" cy="1322100"/>
          </a:xfrm>
          <a:prstGeom prst="roundRect">
            <a:avLst>
              <a:gd fmla="val 2976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6227101" y="1801326"/>
            <a:ext cx="2153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 motivo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6227101" y="1978383"/>
            <a:ext cx="21534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Accodare significherebbe riversare, fra un minuto, un evento vecchio di un minuto.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17207" y="3238268"/>
            <a:ext cx="7955400" cy="1053300"/>
          </a:xfrm>
          <a:prstGeom prst="roundRect">
            <a:avLst>
              <a:gd fmla="val 520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857238" y="3457725"/>
            <a:ext cx="7475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Nessuna politica di scheduling risolve un sovraccarico: non c'è modo di eseguire più lavoro di quanto ne stia nel tempo disponibile.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17095" y="1170925"/>
            <a:ext cx="79554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it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 sistema salva una registrazione di 2 secondi quando riconosce un evento pericoloso.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RICONOSCIMENTO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rete neurale, in breve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617220" y="1331824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31 KB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617220" y="1866748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modello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quantizzato int8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2674620" y="1331824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107 </a:t>
            </a:r>
            <a:r>
              <a:rPr b="1" lang="it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674620" y="1866748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moltiplicazioni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per inferenza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4732020" y="1331824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88,9%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4732020" y="1866748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accuratezza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sul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789420" y="1331824"/>
            <a:ext cx="1851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it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789420" y="1866748"/>
            <a:ext cx="18516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classi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acustiche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17220" y="2955798"/>
            <a:ext cx="3840480" cy="1492301"/>
          </a:xfrm>
          <a:prstGeom prst="roundRect">
            <a:avLst>
              <a:gd fmla="val 3676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809244" y="3106674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Architettura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809244" y="3353562"/>
            <a:ext cx="3456432" cy="929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Tre convoluzioni standard, pooling, uno strato denso.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4732020" y="2955798"/>
            <a:ext cx="3840480" cy="1492301"/>
          </a:xfrm>
          <a:prstGeom prst="roundRect">
            <a:avLst>
              <a:gd fmla="val 3676" name="adj"/>
            </a:avLst>
          </a:prstGeom>
          <a:solidFill>
            <a:srgbClr val="FDF6E8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4924044" y="3106674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Il divario che conta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4924044" y="3353562"/>
            <a:ext cx="3456432" cy="9299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88,9% sul dataset, 42,7% sulle registrazioni fatte con il microfono reale. L'adattamento di dominio (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fine tuning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 lo ha riportato al 65,2%.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MACCHINA A STATI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Dove la rete non può arrivare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617220" y="1200150"/>
            <a:ext cx="7955280" cy="351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Alcuni eventi non esistono dentro una finestra da un secondo.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617220" y="1682954"/>
            <a:ext cx="2537460" cy="1316736"/>
          </a:xfrm>
          <a:prstGeom prst="roundRect">
            <a:avLst>
              <a:gd fmla="val 41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809244" y="1833830"/>
            <a:ext cx="21534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Sparo o fuochi?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809244" y="2080718"/>
            <a:ext cx="2153412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Acusticamente identici. Li distingue solo la ripetizione nel tempo.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3326130" y="1682954"/>
            <a:ext cx="2537460" cy="1316736"/>
          </a:xfrm>
          <a:prstGeom prst="roundRect">
            <a:avLst>
              <a:gd fmla="val 41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3518154" y="1833830"/>
            <a:ext cx="21534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Incidente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3518154" y="2080718"/>
            <a:ext cx="2153412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Non è un suono: è una sequenza — stridio, impatto, vetri.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617220" y="3219146"/>
            <a:ext cx="7955280" cy="1228954"/>
          </a:xfrm>
          <a:prstGeom prst="roundRect">
            <a:avLst>
              <a:gd fmla="val 4464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809244" y="3370021"/>
            <a:ext cx="75712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 vincolo categorico si scrive, non si fa dedurre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809244" y="3616910"/>
            <a:ext cx="7571232" cy="666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Livelli smorzati per le classi continue, eventi con tempo morto per quelle impulsive, isteresi di 5 s sugli stati. Otto stati, dal fondo urbano al possibile incidente. Costo: decine di microsecondi per ciclo.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411480" y="30861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it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INTERAZIONE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i="0" lang="it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pulsante, nessun task in più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617220" y="120015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Premendolo, il PC riproduce un campione: serve a mostrare il riconoscimento dal vivo.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617220" y="1577340"/>
            <a:ext cx="2537460" cy="1316736"/>
          </a:xfrm>
          <a:prstGeom prst="roundRect">
            <a:avLst>
              <a:gd fmla="val 41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809244" y="1728216"/>
            <a:ext cx="21534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Letto da Task_DSP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809244" y="1975104"/>
            <a:ext cx="2153412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Periodo fisso di 32 ms e mai bloccante: il campionamento è deterministico.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3326130" y="1577340"/>
            <a:ext cx="2537460" cy="1316736"/>
          </a:xfrm>
          <a:prstGeom prst="roundRect">
            <a:avLst>
              <a:gd fmla="val 4167" name="adj"/>
            </a:avLst>
          </a:prstGeom>
          <a:solidFill>
            <a:srgbClr val="F5F7FC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"/>
          <p:cNvSpPr/>
          <p:nvPr/>
        </p:nvSpPr>
        <p:spPr>
          <a:xfrm>
            <a:off x="3518154" y="1728216"/>
            <a:ext cx="21534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Antirimbalzo gratuito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3518154" y="1975104"/>
            <a:ext cx="2153412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Tre letture consecutive a 32 ms, in entrambi i versi. Nessun timer: la base dei tempi è la periodicità del task.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6035040" y="1577340"/>
            <a:ext cx="2537460" cy="1316736"/>
          </a:xfrm>
          <a:prstGeom prst="roundRect">
            <a:avLst>
              <a:gd fmla="val 4167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6227064" y="1728216"/>
            <a:ext cx="215341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Costo trascurabile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6227064" y="1975104"/>
            <a:ext cx="2153412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Due letture di un registro GPIO. Decine di nanosecondi su un budget di 32 ms: l'analisi non cambia.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/>
          <p:nvPr/>
        </p:nvSpPr>
        <p:spPr>
          <a:xfrm>
            <a:off x="411480" y="308610"/>
            <a:ext cx="288036" cy="2880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411480" y="308610"/>
            <a:ext cx="28803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822960" y="301752"/>
            <a:ext cx="78867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822960" y="466344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it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Bilancio Finale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617220" y="1244042"/>
            <a:ext cx="3840480" cy="2018996"/>
          </a:xfrm>
          <a:prstGeom prst="roundRect">
            <a:avLst>
              <a:gd fmla="val 2717" name="adj"/>
            </a:avLst>
          </a:prstGeom>
          <a:solidFill>
            <a:srgbClr val="EAF7F2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"/>
          <p:cNvSpPr/>
          <p:nvPr/>
        </p:nvSpPr>
        <p:spPr>
          <a:xfrm>
            <a:off x="809244" y="1394918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Raggiunto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809244" y="1641806"/>
            <a:ext cx="3456432" cy="14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Char char="●"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Schedulabile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 dimostrato analiticamente.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Char char="●"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In ore di funzionamento: 0 overrun ADC, 0 finestre scartate.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Char char="●"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L'audio non lascia mai il dispositivo.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4732020" y="1244042"/>
            <a:ext cx="3840480" cy="2018996"/>
          </a:xfrm>
          <a:prstGeom prst="roundRect">
            <a:avLst>
              <a:gd fmla="val 2717" name="adj"/>
            </a:avLst>
          </a:prstGeom>
          <a:solidFill>
            <a:srgbClr val="FDF6E8"/>
          </a:solidFill>
          <a:ln cap="flat" cmpd="sng" w="12700">
            <a:solidFill>
              <a:srgbClr val="E3E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"/>
          <p:cNvSpPr/>
          <p:nvPr/>
        </p:nvSpPr>
        <p:spPr>
          <a:xfrm>
            <a:off x="4924044" y="1394918"/>
            <a:ext cx="345643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4924044" y="1641806"/>
            <a:ext cx="3456432" cy="14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Char char="●"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L'accuratezza reale è 65%, contro l'89% sul dataset: d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ataset di training non dei migliori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A6272"/>
              </a:buClr>
              <a:buSzPts val="1000"/>
              <a:buFont typeface="Calibri"/>
              <a:buChar char="●"/>
            </a:pPr>
            <a:r>
              <a:rPr b="0" i="0" lang="it" sz="1000" u="none" cap="none" strike="noStrike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Classi come ambiente urbano e veicoli restano poco separabili</a:t>
            </a:r>
            <a:r>
              <a:rPr lang="it" sz="1000">
                <a:solidFill>
                  <a:srgbClr val="5A6272"/>
                </a:solidFill>
                <a:latin typeface="Calibri"/>
                <a:ea typeface="Calibri"/>
                <a:cs typeface="Calibri"/>
                <a:sym typeface="Calibri"/>
              </a:rPr>
              <a:t>: il microfono su ADC a 12 bit è il collo di bottiglia.</a:t>
            </a:r>
            <a:endParaRPr sz="1000">
              <a:solidFill>
                <a:srgbClr val="5A62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