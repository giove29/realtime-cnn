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9fd99cd46_3_2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f9fd99cd46_3_2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f9fd99cd46_3_2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f9fd99cd46_3_12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g3f9fd99cd46_3_12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g3f9fd99cd46_3_12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9fd99cd46_3_5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g3f9fd99cd46_3_5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g3f9fd99cd46_3_5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f9fd99cd46_3_95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f9fd99cd46_3_95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g3f9fd99cd46_3_95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9fd99cd46_3_2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g3f9fd99cd46_3_2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g3f9fd99cd46_3_2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f9fd99cd46_3_112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3f9fd99cd46_3_112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g3f9fd99cd46_3_112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f9fd99cd46_3_163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g3f9fd99cd46_3_163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g3f9fd99cd46_3_163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f9fd99cd46_3_178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g3f9fd99cd46_3_178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g3f9fd99cd46_3_178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f9fd99cd46_3_195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3" name="Google Shape;213;g3f9fd99cd46_3_195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g3f9fd99cd46_3_195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f9fd99cd46_3_21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g3f9fd99cd46_3_21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g3f9fd99cd46_3_21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9fd99cd46_3_253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7" name="Google Shape;257;g3f9fd99cd46_3_253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g3f9fd99cd46_3_253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f9fd99cd46_3_275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" name="Google Shape;280;g3f9fd99cd46_3_275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g3f9fd99cd46_3_275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f9fd99cd46_3_296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g3f9fd99cd46_3_296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g3f9fd99cd46_3_296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f9fd99cd46_3_316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8" name="Google Shape;318;g3f9fd99cd46_3_316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g3f9fd99cd46_3_316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1C3A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617220" y="1419606"/>
            <a:ext cx="7886700" cy="79004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500"/>
              <a:buFont typeface="Cambria"/>
              <a:buNone/>
            </a:pPr>
            <a:r>
              <a:rPr b="1" i="0" lang="it" sz="3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Smart City Audio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5"/>
          <p:cNvSpPr/>
          <p:nvPr/>
        </p:nvSpPr>
        <p:spPr>
          <a:xfrm>
            <a:off x="617220" y="2297430"/>
            <a:ext cx="78867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500"/>
              <a:buFont typeface="Calibri"/>
              <a:buNone/>
            </a:pPr>
            <a:r>
              <a:rPr b="0" i="0" lang="it" sz="15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Un microfono che ascolta la città senza registrarla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5"/>
          <p:cNvSpPr/>
          <p:nvPr/>
        </p:nvSpPr>
        <p:spPr>
          <a:xfrm>
            <a:off x="617220" y="3263036"/>
            <a:ext cx="5212080" cy="1360628"/>
          </a:xfrm>
          <a:prstGeom prst="roundRect">
            <a:avLst>
              <a:gd fmla="val 4032" name="adj"/>
            </a:avLst>
          </a:prstGeom>
          <a:solidFill>
            <a:srgbClr val="1E2761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5"/>
          <p:cNvSpPr/>
          <p:nvPr/>
        </p:nvSpPr>
        <p:spPr>
          <a:xfrm>
            <a:off x="788670" y="3456432"/>
            <a:ext cx="4869180" cy="9656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6153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Comune di Trento, 2024 — il Garante privacy sanziona un progetto di sorveglianza acustica: i microfoni trasmettevano audio in chiaro, riconoscibile.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617220" y="4766310"/>
            <a:ext cx="78867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A0C4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8FA0C4"/>
                </a:solidFill>
                <a:latin typeface="Calibri"/>
                <a:ea typeface="Calibri"/>
                <a:cs typeface="Calibri"/>
                <a:sym typeface="Calibri"/>
              </a:rPr>
              <a:t>Real Time Embedded System · Raspberry Pi Pico · FreeRTOS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/>
          <p:nvPr/>
        </p:nvSpPr>
        <p:spPr>
          <a:xfrm>
            <a:off x="411480" y="308610"/>
            <a:ext cx="288036" cy="288036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16"/>
          <p:cNvSpPr/>
          <p:nvPr/>
        </p:nvSpPr>
        <p:spPr>
          <a:xfrm>
            <a:off x="411480" y="308610"/>
            <a:ext cx="288036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6"/>
          <p:cNvSpPr/>
          <p:nvPr/>
        </p:nvSpPr>
        <p:spPr>
          <a:xfrm>
            <a:off x="822960" y="301752"/>
            <a:ext cx="78867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it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IL PROBLEMA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6"/>
          <p:cNvSpPr/>
          <p:nvPr/>
        </p:nvSpPr>
        <p:spPr>
          <a:xfrm>
            <a:off x="822960" y="466344"/>
            <a:ext cx="788670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400"/>
              <a:buFont typeface="Cambria"/>
              <a:buNone/>
            </a:pPr>
            <a:r>
              <a:rPr b="1" i="0" lang="it" sz="2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Il suono non esce mai dal dispositivo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6"/>
          <p:cNvSpPr/>
          <p:nvPr/>
        </p:nvSpPr>
        <p:spPr>
          <a:xfrm>
            <a:off x="617220" y="1156259"/>
            <a:ext cx="3840480" cy="1755648"/>
          </a:xfrm>
          <a:prstGeom prst="roundRect">
            <a:avLst>
              <a:gd fmla="val 3125" name="adj"/>
            </a:avLst>
          </a:prstGeom>
          <a:solidFill>
            <a:srgbClr val="FBECE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6"/>
          <p:cNvSpPr/>
          <p:nvPr/>
        </p:nvSpPr>
        <p:spPr>
          <a:xfrm>
            <a:off x="809244" y="1307135"/>
            <a:ext cx="34564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Approccio tradizionale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6"/>
          <p:cNvSpPr/>
          <p:nvPr/>
        </p:nvSpPr>
        <p:spPr>
          <a:xfrm>
            <a:off x="809244" y="1554022"/>
            <a:ext cx="3456432" cy="11932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Il microfono trasmette l'audio a un server, che lo analizza.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Voci e conversazioni viaggiano in chiaro: sono dati personali.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4732020" y="1156259"/>
            <a:ext cx="3840480" cy="1755648"/>
          </a:xfrm>
          <a:prstGeom prst="roundRect">
            <a:avLst>
              <a:gd fmla="val 3125" name="adj"/>
            </a:avLst>
          </a:prstGeom>
          <a:solidFill>
            <a:srgbClr val="EAF7F2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16"/>
          <p:cNvSpPr/>
          <p:nvPr/>
        </p:nvSpPr>
        <p:spPr>
          <a:xfrm>
            <a:off x="4924044" y="1307135"/>
            <a:ext cx="34564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Approccio adottato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/>
          <p:nvPr/>
        </p:nvSpPr>
        <p:spPr>
          <a:xfrm>
            <a:off x="4924044" y="1554022"/>
            <a:ext cx="3456432" cy="11932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Il microcontrollore classifica a bordo e trasmette solo un'etichetta.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Nessun audio lascia il dispositivo durante il funzionamento normale.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617220" y="3306928"/>
            <a:ext cx="2743200" cy="2633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Esce dal dispositivo: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617220" y="3658057"/>
            <a:ext cx="7955280" cy="438912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ourier New"/>
              <a:buNone/>
            </a:pPr>
            <a:r>
              <a:rPr b="0" i="0" lang="it" sz="1100" u="none" cap="none" strike="noStrike">
                <a:solidFill>
                  <a:srgbClr val="1E2761"/>
                </a:solidFill>
                <a:latin typeface="Courier New"/>
                <a:ea typeface="Courier New"/>
                <a:cs typeface="Courier New"/>
                <a:sym typeface="Courier New"/>
              </a:rPr>
              <a:t>{"t1":"Vetri","p1":0.71,"stato":"POSSIBILE_VANDALISMO"}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617220" y="4272534"/>
            <a:ext cx="7955280" cy="351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1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Una stringa di quaranta byte. Non è ricostruibile in audio, non contiene voce.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/>
          <p:nvPr/>
        </p:nvSpPr>
        <p:spPr>
          <a:xfrm>
            <a:off x="411480" y="308610"/>
            <a:ext cx="288036" cy="288036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7"/>
          <p:cNvSpPr/>
          <p:nvPr/>
        </p:nvSpPr>
        <p:spPr>
          <a:xfrm>
            <a:off x="411480" y="308610"/>
            <a:ext cx="288036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it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7"/>
          <p:cNvSpPr/>
          <p:nvPr/>
        </p:nvSpPr>
        <p:spPr>
          <a:xfrm>
            <a:off x="822960" y="301752"/>
            <a:ext cx="78867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it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HARDWARE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/>
          <p:nvPr/>
        </p:nvSpPr>
        <p:spPr>
          <a:xfrm>
            <a:off x="822960" y="466344"/>
            <a:ext cx="788670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400"/>
              <a:buFont typeface="Cambria"/>
              <a:buNone/>
            </a:pPr>
            <a:r>
              <a:rPr b="1" i="0" lang="it" sz="2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Un core, 264 KB, nessuna virgola mobile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7"/>
          <p:cNvSpPr/>
          <p:nvPr/>
        </p:nvSpPr>
        <p:spPr>
          <a:xfrm>
            <a:off x="617220" y="1419606"/>
            <a:ext cx="185166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it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133 MHz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7"/>
          <p:cNvSpPr/>
          <p:nvPr/>
        </p:nvSpPr>
        <p:spPr>
          <a:xfrm>
            <a:off x="617220" y="1954530"/>
            <a:ext cx="1851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Cortex-M0+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senza FPU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7"/>
          <p:cNvSpPr/>
          <p:nvPr/>
        </p:nvSpPr>
        <p:spPr>
          <a:xfrm>
            <a:off x="2674620" y="1419606"/>
            <a:ext cx="185166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it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264 KB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7"/>
          <p:cNvSpPr/>
          <p:nvPr/>
        </p:nvSpPr>
        <p:spPr>
          <a:xfrm>
            <a:off x="2674620" y="1954530"/>
            <a:ext cx="1851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RAM totale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220 usati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7"/>
          <p:cNvSpPr/>
          <p:nvPr/>
        </p:nvSpPr>
        <p:spPr>
          <a:xfrm>
            <a:off x="4732020" y="1419606"/>
            <a:ext cx="185166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it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2 MB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7"/>
          <p:cNvSpPr/>
          <p:nvPr/>
        </p:nvSpPr>
        <p:spPr>
          <a:xfrm>
            <a:off x="4732020" y="1954530"/>
            <a:ext cx="1851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flash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modello e codice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7"/>
          <p:cNvSpPr/>
          <p:nvPr/>
        </p:nvSpPr>
        <p:spPr>
          <a:xfrm>
            <a:off x="617220" y="3087472"/>
            <a:ext cx="7955400" cy="1316700"/>
          </a:xfrm>
          <a:prstGeom prst="roundRect">
            <a:avLst>
              <a:gd fmla="val 4167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7"/>
          <p:cNvSpPr/>
          <p:nvPr/>
        </p:nvSpPr>
        <p:spPr>
          <a:xfrm>
            <a:off x="809244" y="3238348"/>
            <a:ext cx="7571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Il vincolo che decide tutto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809244" y="3485236"/>
            <a:ext cx="7571100" cy="75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Il Cortex-M0+ non ha unità in virgola mobile: ogni moltiplicazione float è emulata via software e costa decine di cicli. Il progetto è stato portato a 200 MHz.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/>
          <p:nvPr/>
        </p:nvSpPr>
        <p:spPr>
          <a:xfrm>
            <a:off x="411480" y="308610"/>
            <a:ext cx="288036" cy="288036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8"/>
          <p:cNvSpPr/>
          <p:nvPr/>
        </p:nvSpPr>
        <p:spPr>
          <a:xfrm>
            <a:off x="411480" y="308610"/>
            <a:ext cx="288036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it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/>
          <p:cNvSpPr/>
          <p:nvPr/>
        </p:nvSpPr>
        <p:spPr>
          <a:xfrm>
            <a:off x="822960" y="301752"/>
            <a:ext cx="78867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it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SISTEMA OPERATIVO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8"/>
          <p:cNvSpPr/>
          <p:nvPr/>
        </p:nvSpPr>
        <p:spPr>
          <a:xfrm>
            <a:off x="822960" y="466344"/>
            <a:ext cx="788670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400"/>
              <a:buFont typeface="Cambria"/>
              <a:buNone/>
            </a:pPr>
            <a:r>
              <a:rPr b="1" i="0" lang="it" sz="2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FreeRTOS, priorità fisse</a:t>
            </a:r>
            <a:r>
              <a:rPr b="1" lang="it" sz="2400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 + </a:t>
            </a:r>
            <a:r>
              <a:rPr b="1" i="0" lang="it" sz="2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preemption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8"/>
          <p:cNvSpPr/>
          <p:nvPr/>
        </p:nvSpPr>
        <p:spPr>
          <a:xfrm>
            <a:off x="617220" y="1244042"/>
            <a:ext cx="3840480" cy="1536192"/>
          </a:xfrm>
          <a:prstGeom prst="roundRect">
            <a:avLst>
              <a:gd fmla="val 3571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8"/>
          <p:cNvSpPr/>
          <p:nvPr/>
        </p:nvSpPr>
        <p:spPr>
          <a:xfrm>
            <a:off x="809244" y="1394918"/>
            <a:ext cx="34564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Perché un RTOS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8"/>
          <p:cNvSpPr/>
          <p:nvPr/>
        </p:nvSpPr>
        <p:spPr>
          <a:xfrm>
            <a:off x="809244" y="1641806"/>
            <a:ext cx="3456432" cy="9738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Tre attività con periodi diversi — 32 ms, 496 ms, sporadica — che devono convivere su un core, con prelazione immediata della più urgente.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8"/>
          <p:cNvSpPr/>
          <p:nvPr/>
        </p:nvSpPr>
        <p:spPr>
          <a:xfrm>
            <a:off x="4732020" y="1244042"/>
            <a:ext cx="3840480" cy="1536192"/>
          </a:xfrm>
          <a:prstGeom prst="roundRect">
            <a:avLst>
              <a:gd fmla="val 3571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8"/>
          <p:cNvSpPr/>
          <p:nvPr/>
        </p:nvSpPr>
        <p:spPr>
          <a:xfrm>
            <a:off x="4924044" y="1394918"/>
            <a:ext cx="34564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Perché FreeRTOS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8"/>
          <p:cNvSpPr/>
          <p:nvPr/>
        </p:nvSpPr>
        <p:spPr>
          <a:xfrm>
            <a:off x="4924044" y="1641806"/>
            <a:ext cx="3456432" cy="9738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Porting ufficiale per RP2040, integrazione con SDK e DMA, footprint contenuto: 80 KB di heap </a:t>
            </a: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assegnati (utilizzati &lt;50)</a:t>
            </a: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8"/>
          <p:cNvSpPr/>
          <p:nvPr/>
        </p:nvSpPr>
        <p:spPr>
          <a:xfrm>
            <a:off x="617220" y="2955798"/>
            <a:ext cx="7955280" cy="1492301"/>
          </a:xfrm>
          <a:prstGeom prst="roundRect">
            <a:avLst>
              <a:gd fmla="val 3676" name="adj"/>
            </a:avLst>
          </a:prstGeom>
          <a:solidFill>
            <a:srgbClr val="EAF7F2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8"/>
          <p:cNvSpPr/>
          <p:nvPr/>
        </p:nvSpPr>
        <p:spPr>
          <a:xfrm>
            <a:off x="809244" y="3106674"/>
            <a:ext cx="75712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Scheduler: priorità fisse con prelazione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8"/>
          <p:cNvSpPr/>
          <p:nvPr/>
        </p:nvSpPr>
        <p:spPr>
          <a:xfrm>
            <a:off x="809244" y="3353562"/>
            <a:ext cx="7571232" cy="92994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L'assegnazione segue Rate Monotonic — periodo più breve, priorità più alta. Non è una convenzione: coincide con l'ordine di urgenza delle scadenze, perché il task con il periodo più corto è anche quello con la scadenza dura.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/>
          <p:nvPr/>
        </p:nvSpPr>
        <p:spPr>
          <a:xfrm>
            <a:off x="411480" y="308610"/>
            <a:ext cx="288036" cy="288036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9"/>
          <p:cNvSpPr/>
          <p:nvPr/>
        </p:nvSpPr>
        <p:spPr>
          <a:xfrm>
            <a:off x="411480" y="308610"/>
            <a:ext cx="288036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it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9"/>
          <p:cNvSpPr/>
          <p:nvPr/>
        </p:nvSpPr>
        <p:spPr>
          <a:xfrm>
            <a:off x="822960" y="301752"/>
            <a:ext cx="78867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it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ARCHITETTURA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9"/>
          <p:cNvSpPr/>
          <p:nvPr/>
        </p:nvSpPr>
        <p:spPr>
          <a:xfrm>
            <a:off x="822960" y="466344"/>
            <a:ext cx="788670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400"/>
              <a:buFont typeface="Cambria"/>
              <a:buNone/>
            </a:pPr>
            <a:r>
              <a:rPr b="1" i="0" lang="it" sz="2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Dalla pressione sonora all'etichetta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9"/>
          <p:cNvSpPr/>
          <p:nvPr/>
        </p:nvSpPr>
        <p:spPr>
          <a:xfrm>
            <a:off x="617220" y="1507388"/>
            <a:ext cx="1440180" cy="1492301"/>
          </a:xfrm>
          <a:prstGeom prst="roundRect">
            <a:avLst>
              <a:gd fmla="val 3810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9"/>
          <p:cNvSpPr/>
          <p:nvPr/>
        </p:nvSpPr>
        <p:spPr>
          <a:xfrm>
            <a:off x="617220" y="1700784"/>
            <a:ext cx="1440180" cy="2811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Microfono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9"/>
          <p:cNvSpPr/>
          <p:nvPr/>
        </p:nvSpPr>
        <p:spPr>
          <a:xfrm>
            <a:off x="720090" y="2051914"/>
            <a:ext cx="1234440" cy="79004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800"/>
              <a:buFont typeface="Calibri"/>
              <a:buNone/>
            </a:pPr>
            <a:r>
              <a:rPr b="0" i="0" lang="it" sz="8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MAX4466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800"/>
              <a:buFont typeface="Calibri"/>
              <a:buNone/>
            </a:pPr>
            <a:r>
              <a:rPr b="0" i="0" lang="it" sz="8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su ADC 12 bit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9"/>
          <p:cNvSpPr/>
          <p:nvPr/>
        </p:nvSpPr>
        <p:spPr>
          <a:xfrm>
            <a:off x="2098548" y="2147926"/>
            <a:ext cx="150876" cy="210541"/>
          </a:xfrm>
          <a:prstGeom prst="chevron">
            <a:avLst>
              <a:gd fmla="val 50000" name="adj"/>
            </a:avLst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9"/>
          <p:cNvSpPr/>
          <p:nvPr/>
        </p:nvSpPr>
        <p:spPr>
          <a:xfrm>
            <a:off x="2276856" y="1507388"/>
            <a:ext cx="1440180" cy="1492301"/>
          </a:xfrm>
          <a:prstGeom prst="roundRect">
            <a:avLst>
              <a:gd fmla="val 3810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9"/>
          <p:cNvSpPr/>
          <p:nvPr/>
        </p:nvSpPr>
        <p:spPr>
          <a:xfrm>
            <a:off x="2276856" y="1700784"/>
            <a:ext cx="1440180" cy="2811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Acquisizione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9"/>
          <p:cNvSpPr/>
          <p:nvPr/>
        </p:nvSpPr>
        <p:spPr>
          <a:xfrm>
            <a:off x="2379726" y="2051914"/>
            <a:ext cx="1234440" cy="79004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800"/>
              <a:buFont typeface="Calibri"/>
              <a:buNone/>
            </a:pPr>
            <a:r>
              <a:rPr b="0" i="0" lang="it" sz="8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48 kHz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800"/>
              <a:buFont typeface="Calibri"/>
              <a:buNone/>
            </a:pPr>
            <a:r>
              <a:rPr b="0" i="0" lang="it" sz="8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DMA </a:t>
            </a:r>
            <a:r>
              <a:rPr lang="it" sz="8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su 2 buffer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9"/>
          <p:cNvSpPr/>
          <p:nvPr/>
        </p:nvSpPr>
        <p:spPr>
          <a:xfrm>
            <a:off x="3758184" y="2147926"/>
            <a:ext cx="150876" cy="210541"/>
          </a:xfrm>
          <a:prstGeom prst="chevron">
            <a:avLst>
              <a:gd fmla="val 50000" name="adj"/>
            </a:avLst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9"/>
          <p:cNvSpPr/>
          <p:nvPr/>
        </p:nvSpPr>
        <p:spPr>
          <a:xfrm>
            <a:off x="3936492" y="1507388"/>
            <a:ext cx="1440180" cy="1492301"/>
          </a:xfrm>
          <a:prstGeom prst="roundRect">
            <a:avLst>
              <a:gd fmla="val 3810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9"/>
          <p:cNvSpPr/>
          <p:nvPr/>
        </p:nvSpPr>
        <p:spPr>
          <a:xfrm>
            <a:off x="3936492" y="1700784"/>
            <a:ext cx="1440180" cy="2811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DSP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9"/>
          <p:cNvSpPr/>
          <p:nvPr/>
        </p:nvSpPr>
        <p:spPr>
          <a:xfrm>
            <a:off x="4039362" y="2051914"/>
            <a:ext cx="1234440" cy="79004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800"/>
              <a:buFont typeface="Calibri"/>
              <a:buNone/>
            </a:pPr>
            <a:r>
              <a:rPr b="0" i="0" lang="it" sz="8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FIR, FFT reale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800"/>
              <a:buFont typeface="Calibri"/>
              <a:buNone/>
            </a:pPr>
            <a:r>
              <a:rPr b="0" i="0" lang="it" sz="8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32 bande mel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9"/>
          <p:cNvSpPr/>
          <p:nvPr/>
        </p:nvSpPr>
        <p:spPr>
          <a:xfrm>
            <a:off x="5417820" y="2147926"/>
            <a:ext cx="150876" cy="210541"/>
          </a:xfrm>
          <a:prstGeom prst="chevron">
            <a:avLst>
              <a:gd fmla="val 50000" name="adj"/>
            </a:avLst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9"/>
          <p:cNvSpPr/>
          <p:nvPr/>
        </p:nvSpPr>
        <p:spPr>
          <a:xfrm>
            <a:off x="5596128" y="1507388"/>
            <a:ext cx="1440180" cy="1492301"/>
          </a:xfrm>
          <a:prstGeom prst="roundRect">
            <a:avLst>
              <a:gd fmla="val 3810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9"/>
          <p:cNvSpPr/>
          <p:nvPr/>
        </p:nvSpPr>
        <p:spPr>
          <a:xfrm>
            <a:off x="5596128" y="1700784"/>
            <a:ext cx="1440180" cy="2811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CNN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9"/>
          <p:cNvSpPr/>
          <p:nvPr/>
        </p:nvSpPr>
        <p:spPr>
          <a:xfrm>
            <a:off x="5698998" y="2051914"/>
            <a:ext cx="1234440" cy="79004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800"/>
              <a:buFont typeface="Calibri"/>
              <a:buNone/>
            </a:pPr>
            <a:r>
              <a:rPr b="0" i="0" lang="it" sz="8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int8 quantizzata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800"/>
              <a:buFont typeface="Calibri"/>
              <a:buNone/>
            </a:pPr>
            <a:r>
              <a:rPr b="0" i="0" lang="it" sz="8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8 classi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9"/>
          <p:cNvSpPr/>
          <p:nvPr/>
        </p:nvSpPr>
        <p:spPr>
          <a:xfrm>
            <a:off x="7077456" y="2147926"/>
            <a:ext cx="150876" cy="210541"/>
          </a:xfrm>
          <a:prstGeom prst="chevron">
            <a:avLst>
              <a:gd fmla="val 50000" name="adj"/>
            </a:avLst>
          </a:prstGeom>
          <a:solidFill>
            <a:srgbClr val="02C39A"/>
          </a:solidFill>
          <a:ln cap="flat" cmpd="sng" w="1270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9"/>
          <p:cNvSpPr/>
          <p:nvPr/>
        </p:nvSpPr>
        <p:spPr>
          <a:xfrm>
            <a:off x="7255764" y="1507388"/>
            <a:ext cx="1440180" cy="1492301"/>
          </a:xfrm>
          <a:prstGeom prst="roundRect">
            <a:avLst>
              <a:gd fmla="val 3810" name="adj"/>
            </a:avLst>
          </a:prstGeom>
          <a:solidFill>
            <a:srgbClr val="EAF7F2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9"/>
          <p:cNvSpPr/>
          <p:nvPr/>
        </p:nvSpPr>
        <p:spPr>
          <a:xfrm>
            <a:off x="7255764" y="1700784"/>
            <a:ext cx="1440180" cy="2811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Stato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9"/>
          <p:cNvSpPr/>
          <p:nvPr/>
        </p:nvSpPr>
        <p:spPr>
          <a:xfrm>
            <a:off x="7358634" y="2051914"/>
            <a:ext cx="1234440" cy="79004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800"/>
              <a:buFont typeface="Calibri"/>
              <a:buNone/>
            </a:pPr>
            <a:r>
              <a:rPr b="0" i="0" lang="it" sz="8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regole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800"/>
              <a:buFont typeface="Calibri"/>
              <a:buNone/>
            </a:pPr>
            <a:r>
              <a:rPr b="0" i="0" lang="it" sz="8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deterministiche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9"/>
          <p:cNvSpPr/>
          <p:nvPr/>
        </p:nvSpPr>
        <p:spPr>
          <a:xfrm>
            <a:off x="617220" y="3482492"/>
            <a:ext cx="7955280" cy="52669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Ogni blocco ha un costo misurato e una scadenza. È questo che rende il progetto un problema di tempo reale e non solo di riconoscimento audio.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0"/>
          <p:cNvSpPr/>
          <p:nvPr/>
        </p:nvSpPr>
        <p:spPr>
          <a:xfrm>
            <a:off x="411480" y="308610"/>
            <a:ext cx="288036" cy="288036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0"/>
          <p:cNvSpPr/>
          <p:nvPr/>
        </p:nvSpPr>
        <p:spPr>
          <a:xfrm>
            <a:off x="411480" y="308610"/>
            <a:ext cx="288036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it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0"/>
          <p:cNvSpPr/>
          <p:nvPr/>
        </p:nvSpPr>
        <p:spPr>
          <a:xfrm>
            <a:off x="822960" y="301752"/>
            <a:ext cx="78867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it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PROGETTO DEI TASK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0"/>
          <p:cNvSpPr/>
          <p:nvPr/>
        </p:nvSpPr>
        <p:spPr>
          <a:xfrm>
            <a:off x="822960" y="466344"/>
            <a:ext cx="788670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400"/>
              <a:buFont typeface="Cambria"/>
              <a:buNone/>
            </a:pPr>
            <a:r>
              <a:rPr b="1" i="0" lang="it" sz="2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Tre task, tre priorità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0"/>
          <p:cNvSpPr/>
          <p:nvPr/>
        </p:nvSpPr>
        <p:spPr>
          <a:xfrm>
            <a:off x="617220" y="1200150"/>
            <a:ext cx="1440180" cy="2633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1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Task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0"/>
          <p:cNvSpPr/>
          <p:nvPr/>
        </p:nvSpPr>
        <p:spPr>
          <a:xfrm>
            <a:off x="2125980" y="1200150"/>
            <a:ext cx="960120" cy="2633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1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Priorità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/>
          <p:nvPr/>
        </p:nvSpPr>
        <p:spPr>
          <a:xfrm>
            <a:off x="3154680" y="1200150"/>
            <a:ext cx="1920240" cy="2633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1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Attivazione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0"/>
          <p:cNvSpPr/>
          <p:nvPr/>
        </p:nvSpPr>
        <p:spPr>
          <a:xfrm>
            <a:off x="5143500" y="1200150"/>
            <a:ext cx="3429000" cy="2633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1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Contenuto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0"/>
          <p:cNvSpPr/>
          <p:nvPr/>
        </p:nvSpPr>
        <p:spPr>
          <a:xfrm>
            <a:off x="617220" y="1551280"/>
            <a:ext cx="7955280" cy="617220"/>
          </a:xfrm>
          <a:prstGeom prst="roundRect">
            <a:avLst>
              <a:gd fmla="val 6667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0"/>
          <p:cNvSpPr/>
          <p:nvPr/>
        </p:nvSpPr>
        <p:spPr>
          <a:xfrm>
            <a:off x="754380" y="1551280"/>
            <a:ext cx="1371600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ourier New"/>
              <a:buNone/>
            </a:pPr>
            <a:r>
              <a:rPr b="1" i="0" lang="it" sz="1000" u="none" cap="none" strike="noStrike">
                <a:solidFill>
                  <a:srgbClr val="1E2761"/>
                </a:solidFill>
                <a:latin typeface="Courier New"/>
                <a:ea typeface="Courier New"/>
                <a:cs typeface="Courier New"/>
                <a:sym typeface="Courier New"/>
              </a:rPr>
              <a:t>Task_DSP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2194560" y="1743304"/>
            <a:ext cx="246888" cy="246888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20"/>
          <p:cNvSpPr/>
          <p:nvPr/>
        </p:nvSpPr>
        <p:spPr>
          <a:xfrm>
            <a:off x="2194560" y="1743304"/>
            <a:ext cx="246888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it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0"/>
          <p:cNvSpPr/>
          <p:nvPr/>
        </p:nvSpPr>
        <p:spPr>
          <a:xfrm>
            <a:off x="3154680" y="1551280"/>
            <a:ext cx="1920240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periodico, 32 ms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0"/>
          <p:cNvSpPr/>
          <p:nvPr/>
        </p:nvSpPr>
        <p:spPr>
          <a:xfrm>
            <a:off x="5143500" y="1551280"/>
            <a:ext cx="3429000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Acquisizione, </a:t>
            </a: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FIR, decimazione, FFT, mel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0"/>
          <p:cNvSpPr/>
          <p:nvPr/>
        </p:nvSpPr>
        <p:spPr>
          <a:xfrm>
            <a:off x="617220" y="2297430"/>
            <a:ext cx="7955280" cy="617220"/>
          </a:xfrm>
          <a:prstGeom prst="roundRect">
            <a:avLst>
              <a:gd fmla="val 6667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0"/>
          <p:cNvSpPr/>
          <p:nvPr/>
        </p:nvSpPr>
        <p:spPr>
          <a:xfrm>
            <a:off x="754380" y="2297430"/>
            <a:ext cx="1371600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ourier New"/>
              <a:buNone/>
            </a:pPr>
            <a:r>
              <a:rPr b="1" i="0" lang="it" sz="1000" u="none" cap="none" strike="noStrike">
                <a:solidFill>
                  <a:srgbClr val="1E2761"/>
                </a:solidFill>
                <a:latin typeface="Courier New"/>
                <a:ea typeface="Courier New"/>
                <a:cs typeface="Courier New"/>
                <a:sym typeface="Courier New"/>
              </a:rPr>
              <a:t>Task_ML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0"/>
          <p:cNvSpPr/>
          <p:nvPr/>
        </p:nvSpPr>
        <p:spPr>
          <a:xfrm>
            <a:off x="2194560" y="2489454"/>
            <a:ext cx="246888" cy="246888"/>
          </a:xfrm>
          <a:prstGeom prst="ellipse">
            <a:avLst/>
          </a:prstGeom>
          <a:solidFill>
            <a:srgbClr val="2C3A7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0"/>
          <p:cNvSpPr/>
          <p:nvPr/>
        </p:nvSpPr>
        <p:spPr>
          <a:xfrm>
            <a:off x="2194560" y="2489454"/>
            <a:ext cx="246888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it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0"/>
          <p:cNvSpPr/>
          <p:nvPr/>
        </p:nvSpPr>
        <p:spPr>
          <a:xfrm>
            <a:off x="3154680" y="2297430"/>
            <a:ext cx="1920240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periodico, 496 ms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0"/>
          <p:cNvSpPr/>
          <p:nvPr/>
        </p:nvSpPr>
        <p:spPr>
          <a:xfrm>
            <a:off x="5143500" y="2297430"/>
            <a:ext cx="3429000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Inferenza </a:t>
            </a: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CNN</a:t>
            </a: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 e </a:t>
            </a: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macchina a stati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0"/>
          <p:cNvSpPr/>
          <p:nvPr/>
        </p:nvSpPr>
        <p:spPr>
          <a:xfrm>
            <a:off x="617220" y="3043580"/>
            <a:ext cx="7955280" cy="617220"/>
          </a:xfrm>
          <a:prstGeom prst="roundRect">
            <a:avLst>
              <a:gd fmla="val 6667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0"/>
          <p:cNvSpPr/>
          <p:nvPr/>
        </p:nvSpPr>
        <p:spPr>
          <a:xfrm>
            <a:off x="754380" y="3043580"/>
            <a:ext cx="1371600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ourier New"/>
              <a:buNone/>
            </a:pPr>
            <a:r>
              <a:rPr b="1" i="0" lang="it" sz="1000" u="none" cap="none" strike="noStrike">
                <a:solidFill>
                  <a:srgbClr val="1E2761"/>
                </a:solidFill>
                <a:latin typeface="Courier New"/>
                <a:ea typeface="Courier New"/>
                <a:cs typeface="Courier New"/>
                <a:sym typeface="Courier New"/>
              </a:rPr>
              <a:t>Task_Serial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0"/>
          <p:cNvSpPr/>
          <p:nvPr/>
        </p:nvSpPr>
        <p:spPr>
          <a:xfrm>
            <a:off x="2194560" y="3235604"/>
            <a:ext cx="246888" cy="246888"/>
          </a:xfrm>
          <a:prstGeom prst="ellipse">
            <a:avLst/>
          </a:prstGeom>
          <a:solidFill>
            <a:srgbClr val="3A4A8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20"/>
          <p:cNvSpPr/>
          <p:nvPr/>
        </p:nvSpPr>
        <p:spPr>
          <a:xfrm>
            <a:off x="2194560" y="3235604"/>
            <a:ext cx="246888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it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0"/>
          <p:cNvSpPr/>
          <p:nvPr/>
        </p:nvSpPr>
        <p:spPr>
          <a:xfrm>
            <a:off x="3154680" y="3043580"/>
            <a:ext cx="1920240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aperiodico (Background Service)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0"/>
          <p:cNvSpPr/>
          <p:nvPr/>
        </p:nvSpPr>
        <p:spPr>
          <a:xfrm>
            <a:off x="5143500" y="3043580"/>
            <a:ext cx="3429000" cy="617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Trasmissione seriale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0"/>
          <p:cNvSpPr/>
          <p:nvPr/>
        </p:nvSpPr>
        <p:spPr>
          <a:xfrm>
            <a:off x="617220" y="3921404"/>
            <a:ext cx="7955280" cy="39502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1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Più la ISR del DMA, a priorità hardware bassa perché chiama API del kernel, e i task Idle e Timer di FreeRTOS.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1"/>
          <p:cNvSpPr/>
          <p:nvPr/>
        </p:nvSpPr>
        <p:spPr>
          <a:xfrm>
            <a:off x="411480" y="308610"/>
            <a:ext cx="288036" cy="288036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21"/>
          <p:cNvSpPr/>
          <p:nvPr/>
        </p:nvSpPr>
        <p:spPr>
          <a:xfrm>
            <a:off x="411480" y="308610"/>
            <a:ext cx="288036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it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1"/>
          <p:cNvSpPr/>
          <p:nvPr/>
        </p:nvSpPr>
        <p:spPr>
          <a:xfrm>
            <a:off x="822960" y="301752"/>
            <a:ext cx="78867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it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OCCUPAZIONE DEL PROCESSORE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1"/>
          <p:cNvSpPr/>
          <p:nvPr/>
        </p:nvSpPr>
        <p:spPr>
          <a:xfrm>
            <a:off x="822960" y="466344"/>
            <a:ext cx="788670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400"/>
              <a:buFont typeface="Cambria"/>
              <a:buNone/>
            </a:pPr>
            <a:r>
              <a:rPr b="1" i="0" lang="it" sz="2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Dove va il tempo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6" name="Google Shape;18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7220" y="1287932"/>
            <a:ext cx="4526280" cy="3072384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1"/>
          <p:cNvSpPr/>
          <p:nvPr/>
        </p:nvSpPr>
        <p:spPr>
          <a:xfrm>
            <a:off x="5417820" y="1287932"/>
            <a:ext cx="3154680" cy="1404518"/>
          </a:xfrm>
          <a:prstGeom prst="roundRect">
            <a:avLst>
              <a:gd fmla="val 3906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21"/>
          <p:cNvSpPr/>
          <p:nvPr/>
        </p:nvSpPr>
        <p:spPr>
          <a:xfrm>
            <a:off x="5609844" y="1438808"/>
            <a:ext cx="27706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Task_DSP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1"/>
          <p:cNvSpPr/>
          <p:nvPr/>
        </p:nvSpPr>
        <p:spPr>
          <a:xfrm>
            <a:off x="5609844" y="1685696"/>
            <a:ext cx="2770632" cy="8421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Response Time = C = </a:t>
            </a: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20,8 ms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T = 32ms</a:t>
            </a:r>
            <a:endParaRPr b="0" i="0" sz="1000" u="none" cap="none" strike="noStrike">
              <a:solidFill>
                <a:srgbClr val="5A627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→ </a:t>
            </a: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U = C/T = </a:t>
            </a: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65%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1"/>
          <p:cNvSpPr/>
          <p:nvPr/>
        </p:nvSpPr>
        <p:spPr>
          <a:xfrm>
            <a:off x="5417820" y="2955798"/>
            <a:ext cx="3154680" cy="1404518"/>
          </a:xfrm>
          <a:prstGeom prst="roundRect">
            <a:avLst>
              <a:gd fmla="val 3906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1"/>
          <p:cNvSpPr/>
          <p:nvPr/>
        </p:nvSpPr>
        <p:spPr>
          <a:xfrm>
            <a:off x="5609844" y="3106674"/>
            <a:ext cx="27706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Task_ML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1"/>
          <p:cNvSpPr/>
          <p:nvPr/>
        </p:nvSpPr>
        <p:spPr>
          <a:xfrm>
            <a:off x="5609844" y="3353562"/>
            <a:ext cx="2770632" cy="8421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esponse Time = </a:t>
            </a: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298ms, C</a:t>
            </a: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 = 105ms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T = 496ms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→ U = C/T = 21%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/>
          <p:nvPr/>
        </p:nvSpPr>
        <p:spPr>
          <a:xfrm>
            <a:off x="411480" y="308610"/>
            <a:ext cx="288036" cy="288036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22"/>
          <p:cNvSpPr/>
          <p:nvPr/>
        </p:nvSpPr>
        <p:spPr>
          <a:xfrm>
            <a:off x="411480" y="308610"/>
            <a:ext cx="288036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it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2"/>
          <p:cNvSpPr/>
          <p:nvPr/>
        </p:nvSpPr>
        <p:spPr>
          <a:xfrm>
            <a:off x="822960" y="301752"/>
            <a:ext cx="78867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it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SCHEDULABILITÀ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2"/>
          <p:cNvSpPr/>
          <p:nvPr/>
        </p:nvSpPr>
        <p:spPr>
          <a:xfrm>
            <a:off x="822960" y="466344"/>
            <a:ext cx="788670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400"/>
              <a:buFont typeface="Cambria"/>
              <a:buNone/>
            </a:pPr>
            <a:r>
              <a:rPr b="1" i="0" lang="it" sz="2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Il criterio di Rate Monotonic non basta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2"/>
          <p:cNvSpPr/>
          <p:nvPr/>
        </p:nvSpPr>
        <p:spPr>
          <a:xfrm>
            <a:off x="617220" y="1244042"/>
            <a:ext cx="3840480" cy="2018996"/>
          </a:xfrm>
          <a:prstGeom prst="roundRect">
            <a:avLst>
              <a:gd fmla="val 2717" name="adj"/>
            </a:avLst>
          </a:prstGeom>
          <a:solidFill>
            <a:srgbClr val="FBECE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22"/>
          <p:cNvSpPr/>
          <p:nvPr/>
        </p:nvSpPr>
        <p:spPr>
          <a:xfrm>
            <a:off x="788670" y="1419606"/>
            <a:ext cx="3497580" cy="2633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Limite di Liu e Layland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2"/>
          <p:cNvSpPr/>
          <p:nvPr/>
        </p:nvSpPr>
        <p:spPr>
          <a:xfrm>
            <a:off x="788670" y="1680210"/>
            <a:ext cx="34975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400"/>
              <a:buFont typeface="Courier New"/>
              <a:buNone/>
            </a:pPr>
            <a:r>
              <a:rPr b="0" i="0" lang="it" sz="1400" u="none" cap="none" strike="noStrike">
                <a:solidFill>
                  <a:srgbClr val="1E2761"/>
                </a:solidFill>
                <a:latin typeface="Courier New"/>
                <a:ea typeface="Courier New"/>
                <a:cs typeface="Courier New"/>
                <a:sym typeface="Courier New"/>
              </a:rPr>
              <a:t>U ≤ n (2^(1/n) − 1)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2"/>
          <p:cNvSpPr/>
          <p:nvPr/>
        </p:nvSpPr>
        <p:spPr>
          <a:xfrm>
            <a:off x="788670" y="2297430"/>
            <a:ext cx="3497580" cy="307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200"/>
              <a:buFont typeface="Courier New"/>
              <a:buNone/>
            </a:pPr>
            <a:r>
              <a:rPr b="0" i="0" lang="it" sz="1200" u="none" cap="none" strike="noStrike">
                <a:solidFill>
                  <a:srgbClr val="1E2761"/>
                </a:solidFill>
                <a:latin typeface="Courier New"/>
                <a:ea typeface="Courier New"/>
                <a:cs typeface="Courier New"/>
                <a:sym typeface="Courier New"/>
              </a:rPr>
              <a:t>con n = 3 →  U ≤ 0,779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2"/>
          <p:cNvSpPr/>
          <p:nvPr/>
        </p:nvSpPr>
        <p:spPr>
          <a:xfrm>
            <a:off x="788670" y="2736342"/>
            <a:ext cx="3497580" cy="351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33A3A"/>
              </a:buClr>
              <a:buSzPts val="1000"/>
              <a:buFont typeface="Calibri"/>
              <a:buNone/>
            </a:pPr>
            <a:r>
              <a:rPr b="1" i="0" lang="it" sz="1000" u="none" cap="none" strike="noStrike">
                <a:solidFill>
                  <a:srgbClr val="A33A3A"/>
                </a:solidFill>
                <a:latin typeface="Calibri"/>
                <a:ea typeface="Calibri"/>
                <a:cs typeface="Calibri"/>
                <a:sym typeface="Calibri"/>
              </a:rPr>
              <a:t>Il sistema è a 0,86: la condizione NON è soddisfatta.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2"/>
          <p:cNvSpPr/>
          <p:nvPr/>
        </p:nvSpPr>
        <p:spPr>
          <a:xfrm>
            <a:off x="4732020" y="1244042"/>
            <a:ext cx="3840480" cy="2018996"/>
          </a:xfrm>
          <a:prstGeom prst="roundRect">
            <a:avLst>
              <a:gd fmla="val 2717" name="adj"/>
            </a:avLst>
          </a:prstGeom>
          <a:solidFill>
            <a:srgbClr val="EAF7F2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22"/>
          <p:cNvSpPr/>
          <p:nvPr/>
        </p:nvSpPr>
        <p:spPr>
          <a:xfrm>
            <a:off x="4924044" y="1394918"/>
            <a:ext cx="34564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Ma è solo sufficiente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2"/>
          <p:cNvSpPr/>
          <p:nvPr/>
        </p:nvSpPr>
        <p:spPr>
          <a:xfrm>
            <a:off x="4924044" y="1641806"/>
            <a:ext cx="3456432" cy="1456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Il criterio garantisce la schedulabilità se soddisfatto, non la esclude se violato. Superarlo obbliga all'analisi esatta dei tempi di risposta, non a riprogettare.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2"/>
          <p:cNvSpPr/>
          <p:nvPr/>
        </p:nvSpPr>
        <p:spPr>
          <a:xfrm>
            <a:off x="617220" y="3614166"/>
            <a:ext cx="79552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700"/>
              <a:buFont typeface="Cambria"/>
              <a:buNone/>
            </a:pPr>
            <a:r>
              <a:rPr b="1" i="0" lang="it" sz="17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Il caso peggiore va calcolato</a:t>
            </a:r>
            <a:r>
              <a:rPr b="1" lang="it" sz="1700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3"/>
          <p:cNvSpPr/>
          <p:nvPr/>
        </p:nvSpPr>
        <p:spPr>
          <a:xfrm>
            <a:off x="411480" y="308610"/>
            <a:ext cx="288036" cy="288036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3"/>
          <p:cNvSpPr/>
          <p:nvPr/>
        </p:nvSpPr>
        <p:spPr>
          <a:xfrm>
            <a:off x="411480" y="308610"/>
            <a:ext cx="288036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it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3"/>
          <p:cNvSpPr/>
          <p:nvPr/>
        </p:nvSpPr>
        <p:spPr>
          <a:xfrm>
            <a:off x="822960" y="301752"/>
            <a:ext cx="78867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it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SCHEDULABILITÀ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3"/>
          <p:cNvSpPr/>
          <p:nvPr/>
        </p:nvSpPr>
        <p:spPr>
          <a:xfrm>
            <a:off x="822960" y="466344"/>
            <a:ext cx="788670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400"/>
              <a:buFont typeface="Cambria"/>
              <a:buNone/>
            </a:pPr>
            <a:r>
              <a:rPr b="1" lang="it" sz="2400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RTA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3"/>
          <p:cNvSpPr/>
          <p:nvPr/>
        </p:nvSpPr>
        <p:spPr>
          <a:xfrm>
            <a:off x="617220" y="1200150"/>
            <a:ext cx="7955280" cy="833932"/>
          </a:xfrm>
          <a:prstGeom prst="roundRect">
            <a:avLst>
              <a:gd fmla="val 6579" name="adj"/>
            </a:avLst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23"/>
          <p:cNvSpPr/>
          <p:nvPr/>
        </p:nvSpPr>
        <p:spPr>
          <a:xfrm>
            <a:off x="822960" y="1375715"/>
            <a:ext cx="7543800" cy="4828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ourier New"/>
              <a:buNone/>
            </a:pPr>
            <a:r>
              <a:rPr b="0" i="0" lang="it" sz="130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R = C + Σ ⌈R / T_j⌉ · C_j        con j sui task a priorità maggiore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3"/>
          <p:cNvSpPr/>
          <p:nvPr/>
        </p:nvSpPr>
        <p:spPr>
          <a:xfrm>
            <a:off x="617220" y="2297430"/>
            <a:ext cx="4251960" cy="351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ourier New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ourier New"/>
                <a:ea typeface="Courier New"/>
                <a:cs typeface="Courier New"/>
                <a:sym typeface="Courier New"/>
              </a:rPr>
              <a:t>Task_ML:   R = 105 + ⌈R / 32⌉ · 20,8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3"/>
          <p:cNvSpPr/>
          <p:nvPr/>
        </p:nvSpPr>
        <p:spPr>
          <a:xfrm>
            <a:off x="754380" y="2736342"/>
            <a:ext cx="3840480" cy="2633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ourier New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ourier New"/>
                <a:ea typeface="Courier New"/>
                <a:cs typeface="Courier New"/>
                <a:sym typeface="Courier New"/>
              </a:rPr>
              <a:t>R₀ = 105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3"/>
          <p:cNvSpPr/>
          <p:nvPr/>
        </p:nvSpPr>
        <p:spPr>
          <a:xfrm>
            <a:off x="754380" y="2942082"/>
            <a:ext cx="3840480" cy="2633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ourier New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ourier New"/>
                <a:ea typeface="Courier New"/>
                <a:cs typeface="Courier New"/>
                <a:sym typeface="Courier New"/>
              </a:rPr>
              <a:t>R₁ = 188,2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3"/>
          <p:cNvSpPr/>
          <p:nvPr/>
        </p:nvSpPr>
        <p:spPr>
          <a:xfrm>
            <a:off x="754380" y="3147822"/>
            <a:ext cx="3840480" cy="2633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ourier New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ourier New"/>
                <a:ea typeface="Courier New"/>
                <a:cs typeface="Courier New"/>
                <a:sym typeface="Courier New"/>
              </a:rPr>
              <a:t>R₂ = 229,8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3"/>
          <p:cNvSpPr/>
          <p:nvPr/>
        </p:nvSpPr>
        <p:spPr>
          <a:xfrm>
            <a:off x="754380" y="3353562"/>
            <a:ext cx="3840480" cy="2633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ourier New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ourier New"/>
                <a:ea typeface="Courier New"/>
                <a:cs typeface="Courier New"/>
                <a:sym typeface="Courier New"/>
              </a:rPr>
              <a:t>R₃ = 271,4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3"/>
          <p:cNvSpPr/>
          <p:nvPr/>
        </p:nvSpPr>
        <p:spPr>
          <a:xfrm>
            <a:off x="754380" y="3559302"/>
            <a:ext cx="3840480" cy="2633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ourier New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ourier New"/>
                <a:ea typeface="Courier New"/>
                <a:cs typeface="Courier New"/>
                <a:sym typeface="Courier New"/>
              </a:rPr>
              <a:t>R₄ = 292,2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3"/>
          <p:cNvSpPr/>
          <p:nvPr/>
        </p:nvSpPr>
        <p:spPr>
          <a:xfrm>
            <a:off x="754380" y="3765042"/>
            <a:ext cx="3840480" cy="2633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000"/>
              <a:buFont typeface="Courier New"/>
              <a:buNone/>
            </a:pPr>
            <a:r>
              <a:rPr b="1" i="0" lang="it" sz="1000" u="none" cap="none" strike="noStrike">
                <a:solidFill>
                  <a:srgbClr val="02C39A"/>
                </a:solidFill>
                <a:latin typeface="Courier New"/>
                <a:ea typeface="Courier New"/>
                <a:cs typeface="Courier New"/>
                <a:sym typeface="Courier New"/>
              </a:rPr>
              <a:t>R₅ = 313,0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3"/>
          <p:cNvSpPr/>
          <p:nvPr/>
        </p:nvSpPr>
        <p:spPr>
          <a:xfrm>
            <a:off x="754380" y="3970782"/>
            <a:ext cx="3840480" cy="2633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1000"/>
              <a:buFont typeface="Courier New"/>
              <a:buNone/>
            </a:pPr>
            <a:r>
              <a:rPr b="1" i="0" lang="it" sz="1000" u="none" cap="none" strike="noStrike">
                <a:solidFill>
                  <a:srgbClr val="02C39A"/>
                </a:solidFill>
                <a:latin typeface="Courier New"/>
                <a:ea typeface="Courier New"/>
                <a:cs typeface="Courier New"/>
                <a:sym typeface="Courier New"/>
              </a:rPr>
              <a:t>R₆ = 313,0  ← punto fisso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3"/>
          <p:cNvSpPr/>
          <p:nvPr/>
        </p:nvSpPr>
        <p:spPr>
          <a:xfrm>
            <a:off x="5074920" y="2297430"/>
            <a:ext cx="3497580" cy="2282342"/>
          </a:xfrm>
          <a:prstGeom prst="roundRect">
            <a:avLst>
              <a:gd fmla="val 2404" name="adj"/>
            </a:avLst>
          </a:prstGeom>
          <a:solidFill>
            <a:srgbClr val="EAF7F2"/>
          </a:solidFill>
          <a:ln cap="flat" cmpd="sng" w="19050">
            <a:solidFill>
              <a:srgbClr val="02C3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23"/>
          <p:cNvSpPr/>
          <p:nvPr/>
        </p:nvSpPr>
        <p:spPr>
          <a:xfrm>
            <a:off x="5074920" y="2604668"/>
            <a:ext cx="3497580" cy="7022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200"/>
              <a:buFont typeface="Cambria"/>
              <a:buNone/>
            </a:pPr>
            <a:r>
              <a:rPr b="1" i="0" lang="it" sz="32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313 ms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3"/>
          <p:cNvSpPr/>
          <p:nvPr/>
        </p:nvSpPr>
        <p:spPr>
          <a:xfrm>
            <a:off x="5074920" y="3306928"/>
            <a:ext cx="3497580" cy="26334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tempo di risposta nel caso peggiore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3"/>
          <p:cNvSpPr/>
          <p:nvPr/>
        </p:nvSpPr>
        <p:spPr>
          <a:xfrm>
            <a:off x="5246370" y="3701948"/>
            <a:ext cx="3154680" cy="7022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6153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it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contro una scadenza di 496 ms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46153"/>
              </a:lnSpc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000"/>
              <a:buFont typeface="Calibri"/>
              <a:buNone/>
            </a:pPr>
            <a:r>
              <a:rPr b="1" i="0" lang="it" sz="10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→ sistema schedulabile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4"/>
          <p:cNvSpPr/>
          <p:nvPr/>
        </p:nvSpPr>
        <p:spPr>
          <a:xfrm>
            <a:off x="411480" y="308610"/>
            <a:ext cx="288036" cy="288036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24"/>
          <p:cNvSpPr/>
          <p:nvPr/>
        </p:nvSpPr>
        <p:spPr>
          <a:xfrm>
            <a:off x="411480" y="308610"/>
            <a:ext cx="288036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it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4"/>
          <p:cNvSpPr/>
          <p:nvPr/>
        </p:nvSpPr>
        <p:spPr>
          <a:xfrm>
            <a:off x="822960" y="301752"/>
            <a:ext cx="78867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it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ROBUSTEZZA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4"/>
          <p:cNvSpPr/>
          <p:nvPr/>
        </p:nvSpPr>
        <p:spPr>
          <a:xfrm>
            <a:off x="822960" y="466344"/>
            <a:ext cx="788670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400"/>
              <a:buFont typeface="Cambria"/>
              <a:buNone/>
            </a:pPr>
            <a:r>
              <a:rPr b="1" i="0" lang="it" sz="2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Sotto sovraccarico si scarta, non si accumula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4"/>
          <p:cNvSpPr/>
          <p:nvPr/>
        </p:nvSpPr>
        <p:spPr>
          <a:xfrm>
            <a:off x="617275" y="1693125"/>
            <a:ext cx="2537400" cy="1322100"/>
          </a:xfrm>
          <a:prstGeom prst="roundRect">
            <a:avLst>
              <a:gd fmla="val 2976" name="adj"/>
            </a:avLst>
          </a:prstGeom>
          <a:solidFill>
            <a:srgbClr val="FBECE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4"/>
          <p:cNvSpPr/>
          <p:nvPr/>
        </p:nvSpPr>
        <p:spPr>
          <a:xfrm>
            <a:off x="809298" y="1801326"/>
            <a:ext cx="2153400" cy="14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Il problema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4"/>
          <p:cNvSpPr/>
          <p:nvPr/>
        </p:nvSpPr>
        <p:spPr>
          <a:xfrm>
            <a:off x="809298" y="1978383"/>
            <a:ext cx="2153400" cy="91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Una clip occupa il canale seriale per secondi. Eventi ravvicinati la richiederebbero più volte.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4"/>
          <p:cNvSpPr/>
          <p:nvPr/>
        </p:nvSpPr>
        <p:spPr>
          <a:xfrm>
            <a:off x="3326176" y="1693125"/>
            <a:ext cx="2537400" cy="1322100"/>
          </a:xfrm>
          <a:prstGeom prst="roundRect">
            <a:avLst>
              <a:gd fmla="val 2976" name="adj"/>
            </a:avLst>
          </a:prstGeom>
          <a:solidFill>
            <a:srgbClr val="EAF7F2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24"/>
          <p:cNvSpPr/>
          <p:nvPr/>
        </p:nvSpPr>
        <p:spPr>
          <a:xfrm>
            <a:off x="3518200" y="1801326"/>
            <a:ext cx="2153400" cy="14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La scelta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4"/>
          <p:cNvSpPr/>
          <p:nvPr/>
        </p:nvSpPr>
        <p:spPr>
          <a:xfrm>
            <a:off x="3518200" y="1978383"/>
            <a:ext cx="2153400" cy="91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Tempo morto di 10 s e buffer congelato. Le richieste in eccesso vengono rifiutate, non messe in coda.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4"/>
          <p:cNvSpPr/>
          <p:nvPr/>
        </p:nvSpPr>
        <p:spPr>
          <a:xfrm>
            <a:off x="6035077" y="1693125"/>
            <a:ext cx="2537400" cy="1322100"/>
          </a:xfrm>
          <a:prstGeom prst="roundRect">
            <a:avLst>
              <a:gd fmla="val 2976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24"/>
          <p:cNvSpPr/>
          <p:nvPr/>
        </p:nvSpPr>
        <p:spPr>
          <a:xfrm>
            <a:off x="6227101" y="1801326"/>
            <a:ext cx="2153400" cy="14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Il motivo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4"/>
          <p:cNvSpPr/>
          <p:nvPr/>
        </p:nvSpPr>
        <p:spPr>
          <a:xfrm>
            <a:off x="6227101" y="1978383"/>
            <a:ext cx="2153400" cy="91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Accodare significherebbe riversare, fra un minuto, un evento vecchio di un minuto.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4"/>
          <p:cNvSpPr/>
          <p:nvPr/>
        </p:nvSpPr>
        <p:spPr>
          <a:xfrm>
            <a:off x="617207" y="3238268"/>
            <a:ext cx="7955400" cy="1053300"/>
          </a:xfrm>
          <a:prstGeom prst="roundRect">
            <a:avLst>
              <a:gd fmla="val 5208" name="adj"/>
            </a:avLst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"/>
          <p:cNvSpPr/>
          <p:nvPr/>
        </p:nvSpPr>
        <p:spPr>
          <a:xfrm>
            <a:off x="857238" y="3457725"/>
            <a:ext cx="74751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it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Nessuna politica di scheduling risolve un sovraccarico: non c'è modo di eseguire più lavoro di quanto ne stia nel tempo disponibile.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4"/>
          <p:cNvSpPr/>
          <p:nvPr/>
        </p:nvSpPr>
        <p:spPr>
          <a:xfrm>
            <a:off x="617095" y="1170925"/>
            <a:ext cx="7955400" cy="35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lang="it" sz="1100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Il sistema salva una registrazione di 2 secondi quando riconosce un evento pericoloso.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5"/>
          <p:cNvSpPr/>
          <p:nvPr/>
        </p:nvSpPr>
        <p:spPr>
          <a:xfrm>
            <a:off x="411480" y="308610"/>
            <a:ext cx="288036" cy="288036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5"/>
          <p:cNvSpPr/>
          <p:nvPr/>
        </p:nvSpPr>
        <p:spPr>
          <a:xfrm>
            <a:off x="411480" y="308610"/>
            <a:ext cx="288036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it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5"/>
          <p:cNvSpPr/>
          <p:nvPr/>
        </p:nvSpPr>
        <p:spPr>
          <a:xfrm>
            <a:off x="822960" y="301752"/>
            <a:ext cx="78867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it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RICONOSCIMENTO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5"/>
          <p:cNvSpPr/>
          <p:nvPr/>
        </p:nvSpPr>
        <p:spPr>
          <a:xfrm>
            <a:off x="822960" y="466344"/>
            <a:ext cx="788670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400"/>
              <a:buFont typeface="Cambria"/>
              <a:buNone/>
            </a:pPr>
            <a:r>
              <a:rPr b="1" i="0" lang="it" sz="2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La rete neurale, in breve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5"/>
          <p:cNvSpPr/>
          <p:nvPr/>
        </p:nvSpPr>
        <p:spPr>
          <a:xfrm>
            <a:off x="617220" y="1331824"/>
            <a:ext cx="185166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it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31 KB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5"/>
          <p:cNvSpPr/>
          <p:nvPr/>
        </p:nvSpPr>
        <p:spPr>
          <a:xfrm>
            <a:off x="617220" y="1866748"/>
            <a:ext cx="1851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modello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quantizzato int8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5"/>
          <p:cNvSpPr/>
          <p:nvPr/>
        </p:nvSpPr>
        <p:spPr>
          <a:xfrm>
            <a:off x="2674620" y="1331824"/>
            <a:ext cx="185166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it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107 </a:t>
            </a:r>
            <a:r>
              <a:rPr b="1" lang="it" sz="3000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K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5"/>
          <p:cNvSpPr/>
          <p:nvPr/>
        </p:nvSpPr>
        <p:spPr>
          <a:xfrm>
            <a:off x="2674620" y="1866748"/>
            <a:ext cx="1851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moltiplicazioni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per inferenza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5"/>
          <p:cNvSpPr/>
          <p:nvPr/>
        </p:nvSpPr>
        <p:spPr>
          <a:xfrm>
            <a:off x="4732020" y="1331824"/>
            <a:ext cx="185166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3000"/>
              <a:buFont typeface="Cambria"/>
              <a:buNone/>
            </a:pPr>
            <a:r>
              <a:rPr b="1" i="0" lang="it" sz="3000" u="none" cap="none" strike="noStrike">
                <a:solidFill>
                  <a:srgbClr val="02C39A"/>
                </a:solidFill>
                <a:latin typeface="Cambria"/>
                <a:ea typeface="Cambria"/>
                <a:cs typeface="Cambria"/>
                <a:sym typeface="Cambria"/>
              </a:rPr>
              <a:t>88,9%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5"/>
          <p:cNvSpPr/>
          <p:nvPr/>
        </p:nvSpPr>
        <p:spPr>
          <a:xfrm>
            <a:off x="4732020" y="1866748"/>
            <a:ext cx="1851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accuratezza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sul dataset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5"/>
          <p:cNvSpPr/>
          <p:nvPr/>
        </p:nvSpPr>
        <p:spPr>
          <a:xfrm>
            <a:off x="6789420" y="1331824"/>
            <a:ext cx="1851660" cy="514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3000"/>
              <a:buFont typeface="Cambria"/>
              <a:buNone/>
            </a:pPr>
            <a:r>
              <a:rPr b="1" i="0" lang="it" sz="30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8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5"/>
          <p:cNvSpPr/>
          <p:nvPr/>
        </p:nvSpPr>
        <p:spPr>
          <a:xfrm>
            <a:off x="6789420" y="1866748"/>
            <a:ext cx="1851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classi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900"/>
              <a:buFont typeface="Calibri"/>
              <a:buNone/>
            </a:pPr>
            <a:r>
              <a:rPr b="0" i="0" lang="it" sz="9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acustiche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5"/>
          <p:cNvSpPr/>
          <p:nvPr/>
        </p:nvSpPr>
        <p:spPr>
          <a:xfrm>
            <a:off x="617220" y="2955798"/>
            <a:ext cx="3840480" cy="1492301"/>
          </a:xfrm>
          <a:prstGeom prst="roundRect">
            <a:avLst>
              <a:gd fmla="val 3676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5"/>
          <p:cNvSpPr/>
          <p:nvPr/>
        </p:nvSpPr>
        <p:spPr>
          <a:xfrm>
            <a:off x="809244" y="3106674"/>
            <a:ext cx="34564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Architettura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5"/>
          <p:cNvSpPr/>
          <p:nvPr/>
        </p:nvSpPr>
        <p:spPr>
          <a:xfrm>
            <a:off x="809244" y="3353562"/>
            <a:ext cx="3456432" cy="92994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Tre convoluzioni standard, pooling, uno strato denso.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5"/>
          <p:cNvSpPr/>
          <p:nvPr/>
        </p:nvSpPr>
        <p:spPr>
          <a:xfrm>
            <a:off x="4732020" y="2955798"/>
            <a:ext cx="3840480" cy="1492301"/>
          </a:xfrm>
          <a:prstGeom prst="roundRect">
            <a:avLst>
              <a:gd fmla="val 3676" name="adj"/>
            </a:avLst>
          </a:prstGeom>
          <a:solidFill>
            <a:srgbClr val="FDF6E8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5"/>
          <p:cNvSpPr/>
          <p:nvPr/>
        </p:nvSpPr>
        <p:spPr>
          <a:xfrm>
            <a:off x="4924044" y="3106674"/>
            <a:ext cx="34564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Il divario che conta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5"/>
          <p:cNvSpPr/>
          <p:nvPr/>
        </p:nvSpPr>
        <p:spPr>
          <a:xfrm>
            <a:off x="4924044" y="3353562"/>
            <a:ext cx="3456432" cy="92994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88,9% sul dataset, 42,7% sulle registrazioni fatte con il microfono reale. L'adattamento di dominio (</a:t>
            </a: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fine tuning</a:t>
            </a: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 lo ha riportato al 65,2%.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6"/>
          <p:cNvSpPr/>
          <p:nvPr/>
        </p:nvSpPr>
        <p:spPr>
          <a:xfrm>
            <a:off x="411480" y="308610"/>
            <a:ext cx="288036" cy="288036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26"/>
          <p:cNvSpPr/>
          <p:nvPr/>
        </p:nvSpPr>
        <p:spPr>
          <a:xfrm>
            <a:off x="411480" y="308610"/>
            <a:ext cx="288036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it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6"/>
          <p:cNvSpPr/>
          <p:nvPr/>
        </p:nvSpPr>
        <p:spPr>
          <a:xfrm>
            <a:off x="822960" y="301752"/>
            <a:ext cx="78867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it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MACCHINA A STATI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6"/>
          <p:cNvSpPr/>
          <p:nvPr/>
        </p:nvSpPr>
        <p:spPr>
          <a:xfrm>
            <a:off x="822960" y="466344"/>
            <a:ext cx="788670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400"/>
              <a:buFont typeface="Cambria"/>
              <a:buNone/>
            </a:pPr>
            <a:r>
              <a:rPr b="1" i="0" lang="it" sz="2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Dove la rete non può arrivare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6"/>
          <p:cNvSpPr/>
          <p:nvPr/>
        </p:nvSpPr>
        <p:spPr>
          <a:xfrm>
            <a:off x="617220" y="1200150"/>
            <a:ext cx="7955280" cy="3511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Alcuni eventi non esistono dentro una finestra da un secondo.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6"/>
          <p:cNvSpPr/>
          <p:nvPr/>
        </p:nvSpPr>
        <p:spPr>
          <a:xfrm>
            <a:off x="617220" y="1682954"/>
            <a:ext cx="2537460" cy="1316736"/>
          </a:xfrm>
          <a:prstGeom prst="roundRect">
            <a:avLst>
              <a:gd fmla="val 4167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6"/>
          <p:cNvSpPr/>
          <p:nvPr/>
        </p:nvSpPr>
        <p:spPr>
          <a:xfrm>
            <a:off x="809244" y="1833830"/>
            <a:ext cx="215341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Sparo o fuochi?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6"/>
          <p:cNvSpPr/>
          <p:nvPr/>
        </p:nvSpPr>
        <p:spPr>
          <a:xfrm>
            <a:off x="809244" y="2080718"/>
            <a:ext cx="2153412" cy="7543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Acusticamente identici. Li distingue solo la ripetizione nel tempo.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6"/>
          <p:cNvSpPr/>
          <p:nvPr/>
        </p:nvSpPr>
        <p:spPr>
          <a:xfrm>
            <a:off x="3326130" y="1682954"/>
            <a:ext cx="2537460" cy="1316736"/>
          </a:xfrm>
          <a:prstGeom prst="roundRect">
            <a:avLst>
              <a:gd fmla="val 4167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26"/>
          <p:cNvSpPr/>
          <p:nvPr/>
        </p:nvSpPr>
        <p:spPr>
          <a:xfrm>
            <a:off x="3518154" y="1833830"/>
            <a:ext cx="215341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Incidente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6"/>
          <p:cNvSpPr/>
          <p:nvPr/>
        </p:nvSpPr>
        <p:spPr>
          <a:xfrm>
            <a:off x="3518154" y="2080718"/>
            <a:ext cx="2153412" cy="7543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Non è un suono: è una sequenza — stridio, impatto, vetri.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6"/>
          <p:cNvSpPr/>
          <p:nvPr/>
        </p:nvSpPr>
        <p:spPr>
          <a:xfrm>
            <a:off x="617220" y="3219146"/>
            <a:ext cx="7955280" cy="1228954"/>
          </a:xfrm>
          <a:prstGeom prst="roundRect">
            <a:avLst>
              <a:gd fmla="val 4464" name="adj"/>
            </a:avLst>
          </a:prstGeom>
          <a:solidFill>
            <a:srgbClr val="EAF7F2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6"/>
          <p:cNvSpPr/>
          <p:nvPr/>
        </p:nvSpPr>
        <p:spPr>
          <a:xfrm>
            <a:off x="809244" y="3370021"/>
            <a:ext cx="75712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Un vincolo categorico si scrive, non si fa dedurre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6"/>
          <p:cNvSpPr/>
          <p:nvPr/>
        </p:nvSpPr>
        <p:spPr>
          <a:xfrm>
            <a:off x="809244" y="3616910"/>
            <a:ext cx="7571232" cy="66659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Livelli smorzati per le classi continue, eventi con tempo morto per quelle impulsive, isteresi di 5 s sugli stati. Otto stati, dal fondo urbano al possibile incidente. Costo: decine di microsecondi per ciclo.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7"/>
          <p:cNvSpPr/>
          <p:nvPr/>
        </p:nvSpPr>
        <p:spPr>
          <a:xfrm>
            <a:off x="411480" y="308610"/>
            <a:ext cx="288036" cy="288036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27"/>
          <p:cNvSpPr/>
          <p:nvPr/>
        </p:nvSpPr>
        <p:spPr>
          <a:xfrm>
            <a:off x="411480" y="308610"/>
            <a:ext cx="288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it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/>
          <p:nvPr/>
        </p:nvSpPr>
        <p:spPr>
          <a:xfrm>
            <a:off x="822960" y="301752"/>
            <a:ext cx="78867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rPr b="1" i="0" lang="it" sz="800" u="none" cap="none" strike="noStrike">
                <a:solidFill>
                  <a:srgbClr val="02C39A"/>
                </a:solidFill>
                <a:latin typeface="Calibri"/>
                <a:ea typeface="Calibri"/>
                <a:cs typeface="Calibri"/>
                <a:sym typeface="Calibri"/>
              </a:rPr>
              <a:t>INTERAZIONE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7"/>
          <p:cNvSpPr/>
          <p:nvPr/>
        </p:nvSpPr>
        <p:spPr>
          <a:xfrm>
            <a:off x="822960" y="466344"/>
            <a:ext cx="788670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400"/>
              <a:buFont typeface="Cambria"/>
              <a:buNone/>
            </a:pPr>
            <a:r>
              <a:rPr b="1" i="0" lang="it" sz="2400" u="none" cap="none" strike="noStrike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Un pulsante, nessun task in più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7"/>
          <p:cNvSpPr/>
          <p:nvPr/>
        </p:nvSpPr>
        <p:spPr>
          <a:xfrm>
            <a:off x="617220" y="1200150"/>
            <a:ext cx="7955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0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Premendolo, il PC riproduce un campione: serve a mostrare il riconoscimento dal vivo.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7"/>
          <p:cNvSpPr/>
          <p:nvPr/>
        </p:nvSpPr>
        <p:spPr>
          <a:xfrm>
            <a:off x="617220" y="1577340"/>
            <a:ext cx="2537460" cy="1316736"/>
          </a:xfrm>
          <a:prstGeom prst="roundRect">
            <a:avLst>
              <a:gd fmla="val 4167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27"/>
          <p:cNvSpPr/>
          <p:nvPr/>
        </p:nvSpPr>
        <p:spPr>
          <a:xfrm>
            <a:off x="809244" y="1728216"/>
            <a:ext cx="215341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Letto da Task_DSP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7"/>
          <p:cNvSpPr/>
          <p:nvPr/>
        </p:nvSpPr>
        <p:spPr>
          <a:xfrm>
            <a:off x="809244" y="1975104"/>
            <a:ext cx="2153412" cy="7543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Periodo fisso di 32 ms e mai bloccante: il campionamento è deterministico.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7"/>
          <p:cNvSpPr/>
          <p:nvPr/>
        </p:nvSpPr>
        <p:spPr>
          <a:xfrm>
            <a:off x="3326130" y="1577340"/>
            <a:ext cx="2537460" cy="1316736"/>
          </a:xfrm>
          <a:prstGeom prst="roundRect">
            <a:avLst>
              <a:gd fmla="val 4167" name="adj"/>
            </a:avLst>
          </a:prstGeom>
          <a:solidFill>
            <a:srgbClr val="F5F7FC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7"/>
          <p:cNvSpPr/>
          <p:nvPr/>
        </p:nvSpPr>
        <p:spPr>
          <a:xfrm>
            <a:off x="3518154" y="1728216"/>
            <a:ext cx="215341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Antirimbalzo gratuito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7"/>
          <p:cNvSpPr/>
          <p:nvPr/>
        </p:nvSpPr>
        <p:spPr>
          <a:xfrm>
            <a:off x="3518154" y="1975104"/>
            <a:ext cx="2153412" cy="7543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Tre letture consecutive a 32 ms, in entrambi i versi. Nessun timer: la base dei tempi è la periodicità del task.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7"/>
          <p:cNvSpPr/>
          <p:nvPr/>
        </p:nvSpPr>
        <p:spPr>
          <a:xfrm>
            <a:off x="6035040" y="1577340"/>
            <a:ext cx="2537460" cy="1316736"/>
          </a:xfrm>
          <a:prstGeom prst="roundRect">
            <a:avLst>
              <a:gd fmla="val 4167" name="adj"/>
            </a:avLst>
          </a:prstGeom>
          <a:solidFill>
            <a:srgbClr val="EAF7F2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27"/>
          <p:cNvSpPr/>
          <p:nvPr/>
        </p:nvSpPr>
        <p:spPr>
          <a:xfrm>
            <a:off x="6227064" y="1728216"/>
            <a:ext cx="215341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Costo trascurabile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7"/>
          <p:cNvSpPr/>
          <p:nvPr/>
        </p:nvSpPr>
        <p:spPr>
          <a:xfrm>
            <a:off x="6227064" y="1975104"/>
            <a:ext cx="2153412" cy="7543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None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Due letture di un registro GPIO. Decine di nanosecondi su un budget di 32 ms: l'analisi non cambia.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8"/>
          <p:cNvSpPr/>
          <p:nvPr/>
        </p:nvSpPr>
        <p:spPr>
          <a:xfrm>
            <a:off x="411480" y="308610"/>
            <a:ext cx="288036" cy="288036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28"/>
          <p:cNvSpPr/>
          <p:nvPr/>
        </p:nvSpPr>
        <p:spPr>
          <a:xfrm>
            <a:off x="411480" y="308610"/>
            <a:ext cx="288036" cy="2880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it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8"/>
          <p:cNvSpPr/>
          <p:nvPr/>
        </p:nvSpPr>
        <p:spPr>
          <a:xfrm>
            <a:off x="822960" y="301752"/>
            <a:ext cx="78867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C39A"/>
              </a:buClr>
              <a:buSzPts val="800"/>
              <a:buFont typeface="Calibri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8"/>
          <p:cNvSpPr/>
          <p:nvPr/>
        </p:nvSpPr>
        <p:spPr>
          <a:xfrm>
            <a:off x="822960" y="466344"/>
            <a:ext cx="7886700" cy="4251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400"/>
              <a:buFont typeface="Cambria"/>
              <a:buNone/>
            </a:pPr>
            <a:r>
              <a:rPr b="1" lang="it" sz="2400">
                <a:solidFill>
                  <a:srgbClr val="1E2761"/>
                </a:solidFill>
                <a:latin typeface="Cambria"/>
                <a:ea typeface="Cambria"/>
                <a:cs typeface="Cambria"/>
                <a:sym typeface="Cambria"/>
              </a:rPr>
              <a:t>Bilancio Finale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8"/>
          <p:cNvSpPr/>
          <p:nvPr/>
        </p:nvSpPr>
        <p:spPr>
          <a:xfrm>
            <a:off x="617220" y="1244042"/>
            <a:ext cx="3840480" cy="2018996"/>
          </a:xfrm>
          <a:prstGeom prst="roundRect">
            <a:avLst>
              <a:gd fmla="val 2717" name="adj"/>
            </a:avLst>
          </a:prstGeom>
          <a:solidFill>
            <a:srgbClr val="EAF7F2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28"/>
          <p:cNvSpPr/>
          <p:nvPr/>
        </p:nvSpPr>
        <p:spPr>
          <a:xfrm>
            <a:off x="809244" y="1394918"/>
            <a:ext cx="34564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Raggiunto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8"/>
          <p:cNvSpPr/>
          <p:nvPr/>
        </p:nvSpPr>
        <p:spPr>
          <a:xfrm>
            <a:off x="809244" y="1641806"/>
            <a:ext cx="3456432" cy="1456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92100" lvl="0" marL="45720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Char char="●"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Schedulabile</a:t>
            </a: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 dimostrato analiticamente.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Char char="●"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In ore di funzionamento: 0 overrun ADC, 0 finestre scartate.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Char char="●"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L'audio non lascia mai il dispositivo.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8"/>
          <p:cNvSpPr/>
          <p:nvPr/>
        </p:nvSpPr>
        <p:spPr>
          <a:xfrm>
            <a:off x="4732020" y="1244042"/>
            <a:ext cx="3840480" cy="2018996"/>
          </a:xfrm>
          <a:prstGeom prst="roundRect">
            <a:avLst>
              <a:gd fmla="val 2717" name="adj"/>
            </a:avLst>
          </a:prstGeom>
          <a:solidFill>
            <a:srgbClr val="FDF6E8"/>
          </a:solidFill>
          <a:ln cap="flat" cmpd="sng" w="12700">
            <a:solidFill>
              <a:srgbClr val="E3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8"/>
          <p:cNvSpPr/>
          <p:nvPr/>
        </p:nvSpPr>
        <p:spPr>
          <a:xfrm>
            <a:off x="4924044" y="1394918"/>
            <a:ext cx="3456432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100"/>
              <a:buFont typeface="Calibri"/>
              <a:buNone/>
            </a:pPr>
            <a:r>
              <a:rPr b="1" i="0" lang="it" sz="11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Limiti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8"/>
          <p:cNvSpPr/>
          <p:nvPr/>
        </p:nvSpPr>
        <p:spPr>
          <a:xfrm>
            <a:off x="4924044" y="1641806"/>
            <a:ext cx="3456432" cy="1456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92100" lvl="0" marL="45720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Char char="●"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L'accuratezza reale è 65%, contro l'89% sul dataset: d</a:t>
            </a: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ataset di training non dei migliori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272"/>
              </a:buClr>
              <a:buSzPts val="1000"/>
              <a:buFont typeface="Calibri"/>
              <a:buChar char="●"/>
            </a:pPr>
            <a:r>
              <a:rPr b="0" i="0" lang="it" sz="1000" u="none" cap="none" strike="noStrike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Classi come ambiente urbano e veicoli restano poco separabili</a:t>
            </a:r>
            <a:r>
              <a:rPr lang="it" sz="1000">
                <a:solidFill>
                  <a:srgbClr val="5A6272"/>
                </a:solidFill>
                <a:latin typeface="Calibri"/>
                <a:ea typeface="Calibri"/>
                <a:cs typeface="Calibri"/>
                <a:sym typeface="Calibri"/>
              </a:rPr>
              <a:t>: il microfono su ADC a 12 bit è il collo di bottiglia.</a:t>
            </a:r>
            <a:endParaRPr sz="1000">
              <a:solidFill>
                <a:srgbClr val="5A627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