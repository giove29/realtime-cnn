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Utilizzo</c:v>
                </c:pt>
              </c:strCache>
            </c:strRef>
          </c:tx>
          <c:spPr>
            <a:solidFill>
              <a:srgbClr val="1E2761"/>
            </a:solidFill>
            <a:effectLst/>
          </c:spPr>
          <c:invertIfNegative val="0"/>
          <c:dLbls>
            <c:numFmt formatCode="0&quot;%&quot;" sourceLinked="0"/>
            <c:txPr>
              <a:bodyPr/>
              <a:lstStyle/>
              <a:p>
                <a:pPr>
                  <a:defRPr b="1" i="0" strike="noStrike" sz="1300" u="none">
                    <a:solidFill>
                      <a:srgbClr val="1E2761"/>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5B6BA9"/>
              </a:solidFill>
              <a:effectLst/>
            </c:spPr>
          </c:dPt>
          <c:dPt>
            <c:idx val="2"/>
            <c:invertIfNegative val="0"/>
            <c:bubble3D val="0"/>
            <c:spPr>
              <a:solidFill>
                <a:srgbClr val="CADCFC"/>
              </a:solidFill>
              <a:effectLst/>
            </c:spPr>
          </c:dPt>
          <c:cat>
            <c:multiLvlStrRef>
              <c:f>Sheet1!$A$2:$A$4</c:f>
              <c:multiLvlStrCache>
                <c:ptCount val="3"/>
                <c:lvl>
                  <c:pt idx="0">
                    <c:v>Task_DSP</c:v>
                  </c:pt>
                  <c:pt idx="1">
                    <c:v>Task_ML</c:v>
                  </c:pt>
                  <c:pt idx="2">
                    <c:v>Margine libero</c:v>
                  </c:pt>
                </c:lvl>
              </c:multiLvlStrCache>
            </c:multiLvlStrRef>
          </c:cat>
          <c:val>
            <c:numRef>
              <c:f>Sheet1!$B$2:$B$4</c:f>
              <c:numCache>
                <c:formatCode>General</c:formatCode>
                <c:ptCount val="3"/>
                <c:pt idx="0">
                  <c:v>65</c:v>
                </c:pt>
                <c:pt idx="1">
                  <c:v>21</c:v>
                </c:pt>
                <c:pt idx="2">
                  <c:v>14</c:v>
                </c:pt>
              </c:numCache>
            </c:numRef>
          </c:val>
        </c:ser>
        <c:dLbls>
          <c:numFmt formatCode="0&quot;%&quot;" sourceLinked="0"/>
          <c:txPr>
            <a:bodyPr/>
            <a:lstStyle/>
            <a:p>
              <a:pPr>
                <a:defRPr b="1" i="0" strike="noStrike" sz="13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272"/>
                </a:solidFill>
                <a:latin typeface="Arial"/>
              </a:defRPr>
            </a:pPr>
            <a:endParaRPr lang="en-US"/>
          </a:p>
        </c:txPr>
        <c:crossAx val="2094734552"/>
        <c:crosses val="autoZero"/>
        <c:auto val="1"/>
        <c:lblAlgn val="ctr"/>
        <c:noMultiLvlLbl val="1"/>
      </c:catAx>
      <c:valAx>
        <c:axId val="2094734552"/>
        <c:scaling>
          <c:orientation val="minMax"/>
          <c:max val="80"/>
        </c:scaling>
        <c:delete val="0"/>
        <c:axPos val="l"/>
        <c:majorGridlines>
          <c:spPr>
            <a:ln w="12700" cap="flat">
              <a:solidFill>
                <a:srgbClr val="E3E7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2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Il progetto che presento nasce da un caso concreto: nel 2024 il Garante per la protezione dei dati personali è intervenuto su un progetto di sorveglianza acustica del Comune di Trento. Il problema non era l'idea di monitorare i suoni della città — era che i microfoni trasmettevano audio in chiaro, dal quale si potevano riconoscere voci e conversazioni. Dati personali, quindi, trattati senza le garanzie che il GDPR richiede. La domanda da cui sono partito è questa: si può ottenere lo stesso risultato — sapere che in una via è avvenuto un incidente o uno sparo — senza che l'audio esca mai dal dispositivo? La risposta è sì, se la classificazione avviene a bordo. E il vincolo interessante, per questo corso, è che deve avvenire in tempo reale su un microcontrollore da quattro euro.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confronto è netto. Nell'approccio tradizionale il microfono è un sensore stupido: cattura e spedisce, e tutta l'intelligenza sta sul server. Questo significa che l'audio grezzo attraversa la rete, viene archiviato, e chiunque vi acceda può ascoltare conversazioni private. Nell'approccio che ho adottato il dispositivo è autonomo: elabora lo spettrogramma, lo classifica con una rete neurale, e trasmette soltanto un'etichetta testuale. Quello che vedete in fondo è esattamente ciò che esce dalla seriale: una quarantina di byte. Da quella stringa non si può ricostruire nulla dell'audio originale. È una scelta architetturale che risolve il problema di conformità alla radice, invece di aggiungere cifratura sopra un dato che non doveva essere raccolto.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catena ha cinque stadi. Il microfono è un MAX4466, un preamplificatore per elettrete, collegato all'ADC a dodici bit del Pico. L'acquisizione avviene a 48 kHz in DMA, con due buffer alternati. Il DSP filtra, decima a 16 kHz e calcola uno spettrogramma mel a 32 bande. La rete convoluzionale quantizzata a 8 bit classifica ogni finestra da un secondo in otto categorie. Infine una macchina a stati deterministica legge la sequenza di predizioni e riconosce gli scenari. Quello che rende il progetto interessante per questo corso non è nessuno di questi blocchi preso da solo: è che ognuno ha un costo di calcolo misurato e una scadenza da rispettare, e che devono convivere su un solo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Raspberry Pi Pico monta un RP2040 con due core Cortex-M0 plus, ma ne ho usato uno solo. Le risorse sono modeste: 264 kilobyte di RAM, di cui il progetto ne occupa 220, e due megabyte di flash. Il vincolo che ha condizionato ogni scelta è però un altro: il Cortex-M0 plus non ha unità in virgola mobile. Ogni moltiplicazione float viene emulata dal compilatore e costa decine di cicli invece di uno. Per questo la FFT è implementata come trasformata reale a 512 punti realizzata con una complessa a 256 — un fattore due risparmiato — e il banco di filtri mel è memorizzato in forma sparsa, perché il novanta per cento dei suoi coefficienti sono zeri. Il chip lavora a 200 MHz, sopra i 133 nominali.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DMA riempie un buffer ogni 32 millisecondi, e i buffer sono due: mentre uno si riempie, l'altro viene elaborato. Se il DSP non finisce prima che arrivi il blocco successivo, il DMA scrive sopra i campioni non ancora letti, e quell'audio è perso — non c'è nessun modo di recuperarlo. Questa è una scadenza dura. L'inferenza è diversa: se salta un turno, mezzo secondo dopo arriva la finestra successiva e il sistema riprende. Si perde una predizione, non il dato: è una scadenza morbida. La trasmissione seriale non ha scadenza: il messaggio è già in memoria e ci resta finché non parte. Queste tre righe sono anche l'ordine delle priorità. Chi rischia una perdita irrecuperabile va servito per primo: DSP, poi inferenza, poi seriale.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scelta di usare un sistema operativo real-time non è scontata su un microcontrollore: molti progetti simili girano in un ciclo infinito. Serve però quando ci sono attività con periodi diversi che devono convivere, e quando la più urgente deve poter interrompere le altre immediatamente. FreeRTOS ha un porting ufficiale per l'RP2040, si integra con l'SDK e con il DMA, e ha un'occupazione contenuta: ho dichiarato 80 kilobyte di heap e ne uso meno di 50. Lo scheduler è a priorità fisse con prelazione. L'assegnazione delle priorità segue Rate Monotonic: periodo più breve, priorità più alta. Nel mio caso questa regola coincide con l'ordine di urgenza delle scadenze, perché il task con il periodo più corto è anche quello con la scadenza dura — quindi la scelta è giustificata due volte.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task sono tre. Task_DSP ha priorità 3, la più alta, e si attiva ogni 32 millisecondi quando il DMA sblocca un semaforo: filtra, decima, calcola FFT e bande mel. Task_ML ha priorità 2 e si attiva ogni 496 millisecondi: quantizza la finestra, esegue la rete e aggiorna la macchina a stati. Task_Serial ha priorità 1, la più bassa, ed è sporadico: svuota la coda dei messaggi, riversa le registrazioni di prova e legge i comandi. A questi si aggiungono la routine di interruzione del DMA — configurata a priorità hardware bassa, perché chiama API del kernel e non deve mai prelazionarlo — e i task Idle e Timer che FreeRTOS crea da sé. Una scelta che vale la pena motivare: la macchina a stati non ha un task proprio. Ha lo stesso periodo dell'inferenza e costa decine di microsecondi. Un task dedicato avrebbe aggiunto uno stack, un semaforo e due cambi di contesto per eseguire codice più breve di un tick di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L'acquisizione è il percorso critico. L'ADC lavora in modo continuo a 48 kHz esatti, ottenuti con un divisore intero, e il DMA scrive in due buffer alternati. Mentre uno si riempie, il task elabora l'altro: la CPU non aspetta mai il convertitore. Quando un blocco è completo, la routine di interruzione riarma immediatamente il canale sull'altro buffer e sblocca il task tramite un semaforo. Vale la pena raccontare che la prima versione del progetto non funzionava affatto: il campionamento avveniva con attesa attiva, un secondo e mezzo in cui il processore leggeva il convertitore in un ciclo e non poteva fare altro. Il passaggio al DMA non ha solo liberato quel tempo: ha reso il carico del DSP costante. Il tempo di elaborazione oscilla oggi di 230 microsecondi su 20800, meno dell'uno e mezzo per cento, perché ogni blocco fa esattamente lo stesso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 sono costi misurati sul dispositivo, non stimati. Il DSP impiega 20,8 millisecondi ogni 32, cioè due terzi del processore. L'inferenza è più delicata da interpretare. Il firmware misura 298 millisecondi, ma è tempo trascorso, non tempo lavorato: in quei 298 millisecondi il task viene interrotto dal DSP ogni 32 millisecondi e resta fermo finché quello non finisce. Il DSP prende il 65 per cento del processore, quindi all'inferenza resta il 35. In 298 millisecondi di orologio ha lavorato per il 35 per cento del tempo, cioè circa 105 millisecondi. Su un periodo di 496 sono il 21 per cento. Sommando: 65 più 21 fa 86 per cento di utilizzo, con il 14 per cento libero. Nella prima stesura di questa analisi avevo sommato le due percentuali di tempo di parete ottenendo il 125 per cento, che è impossibile: è stato l'errore che mi ha fatto capire la differenza fra tempo di parete e tempo di calcolo.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strumento che si applica è il criterio di Liu e Layland: un insieme di task periodici con priorità Rate Monotonic è schedulabile se l'utilizzo totale sta sotto n per due alla uno su n meno uno. Con tre task quel limite vale 0,779, cioè circa il 78 per cento. Il mio sistema è all'86 per cento, quindi la condizione non è soddisfatta. Il punto da capire, e che spesso viene frainteso, è che quel criterio è soltanto sufficiente: se è verificato il sistema è certamente schedulabile, ma se è violato non si può concludere nulla. Molti insiemi di task con utilizzo vicino al cento per cento sono perfettamente schedulabili. Superare il limite non obbliga a riprogettare: obbliga a fare l'analisi esatta, cioè a calcolare il tempo di risposta nel caso peggiore.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L'analisi esatta calcola il tempo di risposta come somma del proprio tempo di calcolo più l'interferenza dei task a priorità maggiore. L'interferenza non è nota in anticipo, perché dipende da quante volte il task più prioritario si attiva durante la risposta, che a sua volta dipende dalla risposta stessa. Si risolve iterando fino al punto fisso. Per Task_ML: si parte dai suoi 105 millisecondi di calcolo, si contano quante attivazioni del DSP ci stanno dentro, si aggiunge la loro interferenza, si ricalcola. La successione converge a 313 millisecondi. La scadenza è 496, quindi il sistema è schedulabile con circa il 37 per cento di margine. Per il DSP il calcolo è immediato: essendo il più prioritario non subisce interferenza, e i suoi 20,8 millisecondi stanno sotto i 32 di periodo. Vale la pena notare che il valore calcolato, 313 millisecondi, è vicino ai 298 misurati sul dispositivo: l'analisi teorica e la misura si confermano a vicenda.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sistema salva una registrazione di prova quando riconosce un evento pericoloso. Quella clip dura due secondi: trentaduemila byte, che in base64 diventano quarantaduemilasettecento caratteri, cioe' circa tre secondi e sette di trasmissione a 115200 baud. Se gli eventi si susseguono, le richieste arrivano più in fretta di quanto il canale le smaltisca: è una condizione di sovraccarico. La scelta di progetto è stata rifiutare il lavoro in eccesso invece di accodarlo, con un tempo morto di dieci secondi — quasi il triplo del tempo di trasmissione — e un contatore delle richieste scartate. Accorciare la clip da tre secondi e mezzo a due ha quasi dimezzato la finestra in cui un secondo evento non verrebbe registrato. Il motivo è che accodare significherebbe trasmettere, fra un minuto, un evento avvenuto un minuto prima — e per un sistema di allerta un dato tardivo vale meno di un dato assente. C'è un principio generale dietro: nessuna politica di scheduling risolve un sovraccarico, perché non esiste modo di eseguire più lavoro di quanto ne stia nel tempo disponibile. Lo scheduler decide l'ordine, non la capacità.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domanda naturale è se un algoritmo a priorità dinamiche come Earliest Deadline First avrebbe dato risultati migliori. EDF ha un limite di schedulabilità più favorevole: garantisce fino a utilizzo uno, mentre le priorità fisse si fermano a 0,779 per tre task. Ma quel vantaggio qui non serve, perché l'analisi esatta ha già dimostrato che il sistema è schedulabile. E c'è un argomento più interessante. Se assegnassi le scadenze in base all'urgenza reale, otterrei lo stesso ordine che ho già: l'audio in arrivo ha scadenza durissima perché la periferica lo sovrascrive in 32 millisecondi, l'inferenza ha scadenza intermedia, la clip in memoria è protetta e può attendere. Ordinandoli per scadenza si ottiene tre, due, uno — cioè l'assegnazione Rate Monotonic già in uso. EDF confermerebbe la scelta invece di cambiarla, al prezzo di cambiare kernel. Il vincolo dominante del sistema, infine, non è il processore ma la banda del canale seriale, e nessuna politica di scheduling la modifica.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Sulla rete neurale sarò breve, perché non è il centro di questo corso. È una convoluzionale a tre blocchi, quantizzata a otto bit, che occupa 31 kilobyte di flash ed esegue circa centosettemila moltiplicazioni per inferenza. Classifica otto categorie acustiche e raggiunge l'88,9 per cento sul test set. Due osservazioni che però sono pertinenti. La prima: l'architettura non usa convoluzioni separabili, che sarebbero state la scelta naturale per un microcontrollore. Il motivo è che il kernel quantizzato di DepthwiseConv2D in TensorFlow Lite Micro si bloccava sul Cortex-M0 plus — l'inferenza entrava e non tornava mai. Ci sono volute ore di diagnosi per isolarlo, e la soluzione è stata sostituirlo con convoluzioni standard. La seconda: l'88,9 per cento è misurato su file audio. Registrando con il microfono reale l'accuratezza scende al 42,7. Il divario è la catena di acquisizione, non il modello, e un riaddestramento degli ultimi strati su registrazioni fatte dal dispositivo lo ha riportato al 65,2 per cento.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Sopra la rete neurale c'è uno strato che ragiona sul tempo. Serve perché alcuni eventi non esistono dentro una finestra da un secondo. Uno sparo e un fuoco d'artificio sono acusticamente identici: li distingue solo la ripetizione. Un incidente non è un suono ma una sequenza — stridio di gomme, impatto, vetri. E ci sono precondizioni che nessuna rete dedurrebbe da sola: se un attimo prima dell'urto la scena era deserta — niente veicoli, niente persone — quell'impatto è semplicemente un rumore forte. Avevo provato a farlo imparare a una seconda rete addestrata su sequenze sintetiche: si fermava al 76 per cento, con risultati scadenti proprio sugli eventi puntuali. La macchina a stati deterministica fa meglio perché una regola categorica conviene scriverla, non sperare che la rete la deduca da ottocento esempi. Usa livelli smorzati per le classi continue e rilevamento a eventi con tempo morto per quelle impulsive, con isteresi di cinque secondi sugli stati. Costa decine di microsecondi per ciclo e gira dentro Task_ML.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Un'ultima aggiunta, pensata per la dimostrazione dal vivo: un pulsante sulla breadboard che fa riprodurre al PC un campione audio, così potete vedere il riconoscimento in tempo reale. La domanda pertinente per questo corso è: è stato creato un nuovo task? No, e la scelta è motivata. Un task si giustifica quando ha un periodo proprio o quando può bloccare gli altri; un pulsante non ha né l'uno né l'altro. La lettura sta dentro Task_DSP, e questo è il punto che conta: quel task ha periodo fisso di 32 millisecondi e non si blocca mai, quindi il campionamento del pin è deterministico. Se l'avessi messo in Task_Serial, durante il riversamento di una clip il pulsante sarebbe rimasto insensibile per secondi. C'è anche un vantaggio collaterale: l'antirimbalzo non richiede un timer, perché tre letture consecutive a 32 millisecondi sono già novantasei millisecondi di contatto stabile. La periodicità del task fa da base dei tempi. Sulla schedulabilità l'effetto è nullo: due letture di un registro GPIO costano decine di nanosecondi su un budget di 32 millisecondi, quindi il tempo di risposta calcolato prima resta valido. Ed è real-time nel senso proprio del termine: la catena dalla pressione all'invio del comando è limitata superiormente e calcolabile — novantasei millisecondi di antirimbalzo, fino a venti per il turno di Task_Serial, più la trasmissione USB. Sotto i centocinquanta millisecondi, cioè dentro la soglia entro cui una risposta è percepita come immediata. Infine, quando il pulsante viene premuto il firmware ignora le tre inferenze successive: il clic meccanico arriva al microfono e verrebbe classificato come uno scoppio. Non è un falso positivo da tarare con le soglie, è un evento che il sistema stesso ha causato e di cui conosce l'istante esatto.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bilancio onesto. Dal punto di vista del tempo reale gli obiettivi sono raggiunti: il sistema è schedulabile con il 37 per cento di margine, dimostrato analiticamente. E la verifica sperimentale lo conferma: in ore di funzionamento i contatori di overrun dell'ADC e di finestre scartate sono rimasti a zero. Quei contatori vengono trasmessi in ogni messaggio, quindi il rispetto delle scadenze è monitorato in continuazione, non verificato una volta e dimenticato. Un dato significativo: il tempo del DSP oscilla di 230 microsecondi su 20800, meno dell'uno e mezzo per cento, effetto diretto dell'architettura in streaming. L'obiettivo di privacy è raggiunto per costruzione, perché l'audio non lascia mai il dispositivo. Il limite principale è l'accuratezza reale: il 65 per cento contro l'89 sul dataset. Il collo di bottiglia non è il modello né il processore, è la catena analogica — un elettrete su un ADC a dodici bit con escursione limitata perde le componenti in alta frequenza, che sono proprio quelle che distinguono vetri, spari e impatti. Alcune classi, come ambiente urbano e veicoli, restano poco separabili anche in condizioni ideali. Il passo successivo naturale è un microfono I2S digitale, che eliminerebbe la conversione analogica e con essa gran parte del divario. La parte real-time del progetto resterebbe invariata: cambierebbe solo l'acquisizione.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Chiudo con tre punti. Il primo: il vincolo temporale è stato progettuale, non accessorio. L'architettura in streaming con DMA e il calcolo di due colonne di spettrogramma per blocco non sono scelte di stile, discendono direttamente dalla scadenza di 32 millisecondi imposta dalla periferica. Il secondo: il criterio di schedulabilità sufficiente non è l'ultima parola. A utilizzo 0,86 il limite di Rate Monotonic è violato, ma l'analisi esatta del tempo di risposta dimostra 313 millisecondi contro una scadenza di 496 — e la misura sul dispositivo lo conferma. Il terzo: di fronte al sovraccarico la risposta corretta è rifiutare lavoro, non accumularlo, ed è una decisione di progetto da dichiarare, non un ripiego. Grazie, sono a disposizione per le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A"/>
        </a:solidFill>
      </p:bgPr>
    </p:bg>
    <p:spTree>
      <p:nvGrpSpPr>
        <p:cNvPr id="1" name=""/>
        <p:cNvGrpSpPr/>
        <p:nvPr/>
      </p:nvGrpSpPr>
      <p:grpSpPr>
        <a:xfrm>
          <a:off x="0" y="0"/>
          <a:ext cx="0" cy="0"/>
          <a:chOff x="0" y="0"/>
          <a:chExt cx="0" cy="0"/>
        </a:xfrm>
      </p:grpSpPr>
      <p:sp>
        <p:nvSpPr>
          <p:cNvPr id="2" name="Text 0"/>
          <p:cNvSpPr/>
          <p:nvPr/>
        </p:nvSpPr>
        <p:spPr>
          <a:xfrm>
            <a:off x="822960" y="1892808"/>
            <a:ext cx="10515600" cy="1053389"/>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Smart City Audio</a:t>
            </a:r>
            <a:endParaRPr lang="en-US" sz="4600" dirty="0"/>
          </a:p>
        </p:txBody>
      </p:sp>
      <p:sp>
        <p:nvSpPr>
          <p:cNvPr id="3" name="Text 1"/>
          <p:cNvSpPr/>
          <p:nvPr/>
        </p:nvSpPr>
        <p:spPr>
          <a:xfrm>
            <a:off x="822960" y="3063240"/>
            <a:ext cx="10515600" cy="585216"/>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Un microfono che ascolta la città senza mai registrarla</a:t>
            </a:r>
            <a:endParaRPr lang="en-US" sz="2000" dirty="0"/>
          </a:p>
        </p:txBody>
      </p:sp>
      <p:sp>
        <p:nvSpPr>
          <p:cNvPr id="4" name="Shape 2"/>
          <p:cNvSpPr/>
          <p:nvPr/>
        </p:nvSpPr>
        <p:spPr>
          <a:xfrm>
            <a:off x="822960" y="4350715"/>
            <a:ext cx="6949440" cy="1814170"/>
          </a:xfrm>
          <a:prstGeom prst="roundRect">
            <a:avLst>
              <a:gd name="adj" fmla="val 4032"/>
            </a:avLst>
          </a:prstGeom>
          <a:solidFill>
            <a:srgbClr val="1E2761"/>
          </a:solidFill>
          <a:ln w="12700">
            <a:solidFill>
              <a:srgbClr val="02C39A"/>
            </a:solidFill>
            <a:prstDash val="solid"/>
          </a:ln>
        </p:spPr>
      </p:sp>
      <p:sp>
        <p:nvSpPr>
          <p:cNvPr id="5" name="Text 3"/>
          <p:cNvSpPr/>
          <p:nvPr/>
        </p:nvSpPr>
        <p:spPr>
          <a:xfrm>
            <a:off x="1051560" y="4608576"/>
            <a:ext cx="6492240" cy="1287475"/>
          </a:xfrm>
          <a:prstGeom prst="rect">
            <a:avLst/>
          </a:prstGeom>
          <a:noFill/>
          <a:ln/>
        </p:spPr>
        <p:txBody>
          <a:bodyPr wrap="square" lIns="0" tIns="0" rIns="0" bIns="0" rtlCol="0" anchor="ctr"/>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Comune di Trento, 2024 — il Garante privacy sanziona un progetto di sorveglianza acustica: i microfoni trasmettevano audio in chiaro, riconoscibile.</a:t>
            </a:r>
            <a:endParaRPr lang="en-US" sz="1300" dirty="0"/>
          </a:p>
        </p:txBody>
      </p:sp>
      <p:sp>
        <p:nvSpPr>
          <p:cNvPr id="6" name="Text 4"/>
          <p:cNvSpPr/>
          <p:nvPr/>
        </p:nvSpPr>
        <p:spPr>
          <a:xfrm>
            <a:off x="822960" y="6355080"/>
            <a:ext cx="10515600" cy="365760"/>
          </a:xfrm>
          <a:prstGeom prst="rect">
            <a:avLst/>
          </a:prstGeom>
          <a:noFill/>
          <a:ln/>
        </p:spPr>
        <p:txBody>
          <a:bodyPr wrap="square" lIns="0" tIns="0" rIns="0" bIns="0" rtlCol="0" anchor="ctr"/>
          <a:lstStyle/>
          <a:p>
            <a:pPr indent="0" marL="0">
              <a:buNone/>
            </a:pPr>
            <a:r>
              <a:rPr lang="en-US" sz="1200" dirty="0">
                <a:solidFill>
                  <a:srgbClr val="8FA0C4"/>
                </a:solidFill>
                <a:latin typeface="Calibri" pitchFamily="34" charset="0"/>
                <a:ea typeface="Calibri" pitchFamily="34" charset="-122"/>
                <a:cs typeface="Calibri" pitchFamily="34" charset="-120"/>
              </a:rPr>
              <a:t>Real Time Embedded System · Raspberry Pi Pico · FreeRTOS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IL PROBLEMA</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Il suono non esce mai dal dispositivo</a:t>
            </a:r>
            <a:endParaRPr lang="en-US" sz="3200" dirty="0"/>
          </a:p>
        </p:txBody>
      </p:sp>
      <p:sp>
        <p:nvSpPr>
          <p:cNvPr id="6" name="Shape 4"/>
          <p:cNvSpPr/>
          <p:nvPr/>
        </p:nvSpPr>
        <p:spPr>
          <a:xfrm>
            <a:off x="822960" y="1541678"/>
            <a:ext cx="5120640" cy="2340864"/>
          </a:xfrm>
          <a:prstGeom prst="roundRect">
            <a:avLst>
              <a:gd name="adj" fmla="val 3125"/>
            </a:avLst>
          </a:prstGeom>
          <a:solidFill>
            <a:srgbClr val="FBECEC"/>
          </a:solidFill>
          <a:ln w="12700">
            <a:solidFill>
              <a:srgbClr val="E3E7F0"/>
            </a:solidFill>
            <a:prstDash val="solid"/>
          </a:ln>
        </p:spPr>
      </p:sp>
      <p:sp>
        <p:nvSpPr>
          <p:cNvPr id="7" name="Text 5"/>
          <p:cNvSpPr/>
          <p:nvPr/>
        </p:nvSpPr>
        <p:spPr>
          <a:xfrm>
            <a:off x="1078992" y="1742846"/>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Approccio tradizionale</a:t>
            </a:r>
            <a:endParaRPr lang="en-US" sz="1500" dirty="0"/>
          </a:p>
        </p:txBody>
      </p:sp>
      <p:sp>
        <p:nvSpPr>
          <p:cNvPr id="8" name="Text 6"/>
          <p:cNvSpPr/>
          <p:nvPr/>
        </p:nvSpPr>
        <p:spPr>
          <a:xfrm>
            <a:off x="1078992" y="2072030"/>
            <a:ext cx="4608576" cy="159105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Il microfono trasmette l'audio a un server, che lo analizza.</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Voci e conversazioni viaggiano in chiaro: sono dati personali.</a:t>
            </a:r>
            <a:endParaRPr lang="en-US" sz="1300" dirty="0"/>
          </a:p>
        </p:txBody>
      </p:sp>
      <p:sp>
        <p:nvSpPr>
          <p:cNvPr id="9" name="Shape 7"/>
          <p:cNvSpPr/>
          <p:nvPr/>
        </p:nvSpPr>
        <p:spPr>
          <a:xfrm>
            <a:off x="6309360" y="1541678"/>
            <a:ext cx="5120640" cy="2340864"/>
          </a:xfrm>
          <a:prstGeom prst="roundRect">
            <a:avLst>
              <a:gd name="adj" fmla="val 3125"/>
            </a:avLst>
          </a:prstGeom>
          <a:solidFill>
            <a:srgbClr val="EAF7F2"/>
          </a:solidFill>
          <a:ln w="12700">
            <a:solidFill>
              <a:srgbClr val="E3E7F0"/>
            </a:solidFill>
            <a:prstDash val="solid"/>
          </a:ln>
        </p:spPr>
      </p:sp>
      <p:sp>
        <p:nvSpPr>
          <p:cNvPr id="10" name="Text 8"/>
          <p:cNvSpPr/>
          <p:nvPr/>
        </p:nvSpPr>
        <p:spPr>
          <a:xfrm>
            <a:off x="6565392" y="1742846"/>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Approccio adottato</a:t>
            </a:r>
            <a:endParaRPr lang="en-US" sz="1500" dirty="0"/>
          </a:p>
        </p:txBody>
      </p:sp>
      <p:sp>
        <p:nvSpPr>
          <p:cNvPr id="11" name="Text 9"/>
          <p:cNvSpPr/>
          <p:nvPr/>
        </p:nvSpPr>
        <p:spPr>
          <a:xfrm>
            <a:off x="6565392" y="2072030"/>
            <a:ext cx="4608576" cy="159105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Il microcontrollore classifica a bordo e trasmette solo un'etichetta.</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Nessun audio lascia il dispositivo durante il funzionamento normale.</a:t>
            </a:r>
            <a:endParaRPr lang="en-US" sz="1300" dirty="0"/>
          </a:p>
        </p:txBody>
      </p:sp>
      <p:sp>
        <p:nvSpPr>
          <p:cNvPr id="12" name="Text 10"/>
          <p:cNvSpPr/>
          <p:nvPr/>
        </p:nvSpPr>
        <p:spPr>
          <a:xfrm>
            <a:off x="822960" y="4409237"/>
            <a:ext cx="3657600" cy="35113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Esce dal dispositivo:</a:t>
            </a:r>
            <a:endParaRPr lang="en-US" sz="1400" dirty="0"/>
          </a:p>
        </p:txBody>
      </p:sp>
      <p:sp>
        <p:nvSpPr>
          <p:cNvPr id="13" name="Text 11"/>
          <p:cNvSpPr/>
          <p:nvPr/>
        </p:nvSpPr>
        <p:spPr>
          <a:xfrm>
            <a:off x="822960" y="4877410"/>
            <a:ext cx="10607040" cy="585216"/>
          </a:xfrm>
          <a:prstGeom prst="rect">
            <a:avLst/>
          </a:prstGeom>
          <a:solidFill>
            <a:srgbClr val="F5F7FC"/>
          </a:solidFill>
          <a:ln/>
        </p:spPr>
        <p:txBody>
          <a:bodyPr wrap="square" lIns="0" tIns="0" rIns="0" bIns="0" rtlCol="0" anchor="ctr"/>
          <a:lstStyle/>
          <a:p>
            <a:pPr indent="0" marL="0">
              <a:buNone/>
            </a:pPr>
            <a:r>
              <a:rPr lang="en-US" sz="1500" dirty="0">
                <a:solidFill>
                  <a:srgbClr val="1E2761"/>
                </a:solidFill>
                <a:latin typeface="Courier New" pitchFamily="34" charset="0"/>
                <a:ea typeface="Courier New" pitchFamily="34" charset="-122"/>
                <a:cs typeface="Courier New" pitchFamily="34" charset="-120"/>
              </a:rPr>
              <a:t>{"t1":"Vetri","p1":0.71,"stato":"POSSIBILE_VANDALISMO"}</a:t>
            </a:r>
            <a:endParaRPr lang="en-US" sz="1500" dirty="0"/>
          </a:p>
        </p:txBody>
      </p:sp>
      <p:sp>
        <p:nvSpPr>
          <p:cNvPr id="14" name="Text 12"/>
          <p:cNvSpPr/>
          <p:nvPr/>
        </p:nvSpPr>
        <p:spPr>
          <a:xfrm>
            <a:off x="822960" y="5696712"/>
            <a:ext cx="10607040" cy="468173"/>
          </a:xfrm>
          <a:prstGeom prst="rect">
            <a:avLst/>
          </a:prstGeom>
          <a:noFill/>
          <a:ln/>
        </p:spPr>
        <p:txBody>
          <a:bodyPr wrap="square" lIns="0" tIns="0" rIns="0" bIns="0" rtlCol="0" anchor="ctr"/>
          <a:lstStyle/>
          <a:p>
            <a:pPr indent="0" marL="0">
              <a:buNone/>
            </a:pPr>
            <a:r>
              <a:rPr lang="en-US" sz="1300" i="1" dirty="0">
                <a:solidFill>
                  <a:srgbClr val="5A6272"/>
                </a:solidFill>
                <a:latin typeface="Calibri" pitchFamily="34" charset="0"/>
                <a:ea typeface="Calibri" pitchFamily="34" charset="-122"/>
                <a:cs typeface="Calibri" pitchFamily="34" charset="-120"/>
              </a:rPr>
              <a:t>Una stringa di quaranta byte. Non è ricostruibile in audio, non contiene voce.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ARCHITETTURA</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Dalla pressione sonora all'etichetta</a:t>
            </a:r>
            <a:endParaRPr lang="en-US" sz="3200" dirty="0"/>
          </a:p>
        </p:txBody>
      </p:sp>
      <p:sp>
        <p:nvSpPr>
          <p:cNvPr id="6" name="Shape 4"/>
          <p:cNvSpPr/>
          <p:nvPr/>
        </p:nvSpPr>
        <p:spPr>
          <a:xfrm>
            <a:off x="822960" y="2009851"/>
            <a:ext cx="1920240" cy="1989734"/>
          </a:xfrm>
          <a:prstGeom prst="roundRect">
            <a:avLst>
              <a:gd name="adj" fmla="val 3810"/>
            </a:avLst>
          </a:prstGeom>
          <a:solidFill>
            <a:srgbClr val="F5F7FC"/>
          </a:solidFill>
          <a:ln w="12700">
            <a:solidFill>
              <a:srgbClr val="E3E7F0"/>
            </a:solidFill>
            <a:prstDash val="solid"/>
          </a:ln>
        </p:spPr>
      </p:sp>
      <p:sp>
        <p:nvSpPr>
          <p:cNvPr id="7" name="Text 5"/>
          <p:cNvSpPr/>
          <p:nvPr/>
        </p:nvSpPr>
        <p:spPr>
          <a:xfrm>
            <a:off x="822960" y="2267712"/>
            <a:ext cx="1920240" cy="374904"/>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Microfono</a:t>
            </a:r>
            <a:endParaRPr lang="en-US" sz="1400" dirty="0"/>
          </a:p>
        </p:txBody>
      </p:sp>
      <p:sp>
        <p:nvSpPr>
          <p:cNvPr id="8" name="Text 6"/>
          <p:cNvSpPr/>
          <p:nvPr/>
        </p:nvSpPr>
        <p:spPr>
          <a:xfrm>
            <a:off x="960120" y="2735885"/>
            <a:ext cx="1645920" cy="1053389"/>
          </a:xfrm>
          <a:prstGeom prst="rect">
            <a:avLst/>
          </a:prstGeom>
          <a:noFill/>
          <a:ln/>
        </p:spPr>
        <p:txBody>
          <a:bodyPr wrap="square" lIns="0" tIns="0" rIns="0" bIns="0" rtlCol="0" anchor="ctr"/>
          <a:lstStyle/>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MAX4466</a:t>
            </a:r>
            <a:endParaRPr lang="en-US" sz="1100" dirty="0"/>
          </a:p>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su ADC 12 bit</a:t>
            </a:r>
            <a:endParaRPr lang="en-US" sz="1100" dirty="0"/>
          </a:p>
        </p:txBody>
      </p:sp>
      <p:sp>
        <p:nvSpPr>
          <p:cNvPr id="9" name="Shape 7"/>
          <p:cNvSpPr/>
          <p:nvPr/>
        </p:nvSpPr>
        <p:spPr>
          <a:xfrm>
            <a:off x="2798064" y="2863901"/>
            <a:ext cx="201168" cy="280721"/>
          </a:xfrm>
          <a:prstGeom prst="chevron">
            <a:avLst/>
          </a:prstGeom>
          <a:solidFill>
            <a:srgbClr val="02C39A"/>
          </a:solidFill>
          <a:ln w="12700">
            <a:solidFill>
              <a:srgbClr val="02C39A"/>
            </a:solidFill>
            <a:prstDash val="solid"/>
          </a:ln>
        </p:spPr>
      </p:sp>
      <p:sp>
        <p:nvSpPr>
          <p:cNvPr id="10" name="Shape 8"/>
          <p:cNvSpPr/>
          <p:nvPr/>
        </p:nvSpPr>
        <p:spPr>
          <a:xfrm>
            <a:off x="3035808" y="2009851"/>
            <a:ext cx="1920240" cy="1989734"/>
          </a:xfrm>
          <a:prstGeom prst="roundRect">
            <a:avLst>
              <a:gd name="adj" fmla="val 3810"/>
            </a:avLst>
          </a:prstGeom>
          <a:solidFill>
            <a:srgbClr val="F5F7FC"/>
          </a:solidFill>
          <a:ln w="12700">
            <a:solidFill>
              <a:srgbClr val="E3E7F0"/>
            </a:solidFill>
            <a:prstDash val="solid"/>
          </a:ln>
        </p:spPr>
      </p:sp>
      <p:sp>
        <p:nvSpPr>
          <p:cNvPr id="11" name="Text 9"/>
          <p:cNvSpPr/>
          <p:nvPr/>
        </p:nvSpPr>
        <p:spPr>
          <a:xfrm>
            <a:off x="3035808" y="2267712"/>
            <a:ext cx="1920240" cy="374904"/>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Acquisizione</a:t>
            </a:r>
            <a:endParaRPr lang="en-US" sz="1400" dirty="0"/>
          </a:p>
        </p:txBody>
      </p:sp>
      <p:sp>
        <p:nvSpPr>
          <p:cNvPr id="12" name="Text 10"/>
          <p:cNvSpPr/>
          <p:nvPr/>
        </p:nvSpPr>
        <p:spPr>
          <a:xfrm>
            <a:off x="3172968" y="2735885"/>
            <a:ext cx="1645920" cy="1053389"/>
          </a:xfrm>
          <a:prstGeom prst="rect">
            <a:avLst/>
          </a:prstGeom>
          <a:noFill/>
          <a:ln/>
        </p:spPr>
        <p:txBody>
          <a:bodyPr wrap="square" lIns="0" tIns="0" rIns="0" bIns="0" rtlCol="0" anchor="ctr"/>
          <a:lstStyle/>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48 kHz</a:t>
            </a:r>
            <a:endParaRPr lang="en-US" sz="1100" dirty="0"/>
          </a:p>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DMA ping-pong</a:t>
            </a:r>
            <a:endParaRPr lang="en-US" sz="1100" dirty="0"/>
          </a:p>
        </p:txBody>
      </p:sp>
      <p:sp>
        <p:nvSpPr>
          <p:cNvPr id="13" name="Shape 11"/>
          <p:cNvSpPr/>
          <p:nvPr/>
        </p:nvSpPr>
        <p:spPr>
          <a:xfrm>
            <a:off x="5010912" y="2863901"/>
            <a:ext cx="201168" cy="280721"/>
          </a:xfrm>
          <a:prstGeom prst="chevron">
            <a:avLst/>
          </a:prstGeom>
          <a:solidFill>
            <a:srgbClr val="02C39A"/>
          </a:solidFill>
          <a:ln w="12700">
            <a:solidFill>
              <a:srgbClr val="02C39A"/>
            </a:solidFill>
            <a:prstDash val="solid"/>
          </a:ln>
        </p:spPr>
      </p:sp>
      <p:sp>
        <p:nvSpPr>
          <p:cNvPr id="14" name="Shape 12"/>
          <p:cNvSpPr/>
          <p:nvPr/>
        </p:nvSpPr>
        <p:spPr>
          <a:xfrm>
            <a:off x="5248656" y="2009851"/>
            <a:ext cx="1920240" cy="1989734"/>
          </a:xfrm>
          <a:prstGeom prst="roundRect">
            <a:avLst>
              <a:gd name="adj" fmla="val 3810"/>
            </a:avLst>
          </a:prstGeom>
          <a:solidFill>
            <a:srgbClr val="F5F7FC"/>
          </a:solidFill>
          <a:ln w="12700">
            <a:solidFill>
              <a:srgbClr val="E3E7F0"/>
            </a:solidFill>
            <a:prstDash val="solid"/>
          </a:ln>
        </p:spPr>
      </p:sp>
      <p:sp>
        <p:nvSpPr>
          <p:cNvPr id="15" name="Text 13"/>
          <p:cNvSpPr/>
          <p:nvPr/>
        </p:nvSpPr>
        <p:spPr>
          <a:xfrm>
            <a:off x="5248656" y="2267712"/>
            <a:ext cx="1920240" cy="374904"/>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DSP</a:t>
            </a:r>
            <a:endParaRPr lang="en-US" sz="1400" dirty="0"/>
          </a:p>
        </p:txBody>
      </p:sp>
      <p:sp>
        <p:nvSpPr>
          <p:cNvPr id="16" name="Text 14"/>
          <p:cNvSpPr/>
          <p:nvPr/>
        </p:nvSpPr>
        <p:spPr>
          <a:xfrm>
            <a:off x="5385816" y="2735885"/>
            <a:ext cx="1645920" cy="1053389"/>
          </a:xfrm>
          <a:prstGeom prst="rect">
            <a:avLst/>
          </a:prstGeom>
          <a:noFill/>
          <a:ln/>
        </p:spPr>
        <p:txBody>
          <a:bodyPr wrap="square" lIns="0" tIns="0" rIns="0" bIns="0" rtlCol="0" anchor="ctr"/>
          <a:lstStyle/>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FIR, FFT reale</a:t>
            </a:r>
            <a:endParaRPr lang="en-US" sz="1100" dirty="0"/>
          </a:p>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32 bande mel</a:t>
            </a:r>
            <a:endParaRPr lang="en-US" sz="1100" dirty="0"/>
          </a:p>
        </p:txBody>
      </p:sp>
      <p:sp>
        <p:nvSpPr>
          <p:cNvPr id="17" name="Shape 15"/>
          <p:cNvSpPr/>
          <p:nvPr/>
        </p:nvSpPr>
        <p:spPr>
          <a:xfrm>
            <a:off x="7223760" y="2863901"/>
            <a:ext cx="201168" cy="280721"/>
          </a:xfrm>
          <a:prstGeom prst="chevron">
            <a:avLst/>
          </a:prstGeom>
          <a:solidFill>
            <a:srgbClr val="02C39A"/>
          </a:solidFill>
          <a:ln w="12700">
            <a:solidFill>
              <a:srgbClr val="02C39A"/>
            </a:solidFill>
            <a:prstDash val="solid"/>
          </a:ln>
        </p:spPr>
      </p:sp>
      <p:sp>
        <p:nvSpPr>
          <p:cNvPr id="18" name="Shape 16"/>
          <p:cNvSpPr/>
          <p:nvPr/>
        </p:nvSpPr>
        <p:spPr>
          <a:xfrm>
            <a:off x="7461504" y="2009851"/>
            <a:ext cx="1920240" cy="1989734"/>
          </a:xfrm>
          <a:prstGeom prst="roundRect">
            <a:avLst>
              <a:gd name="adj" fmla="val 3810"/>
            </a:avLst>
          </a:prstGeom>
          <a:solidFill>
            <a:srgbClr val="F5F7FC"/>
          </a:solidFill>
          <a:ln w="12700">
            <a:solidFill>
              <a:srgbClr val="E3E7F0"/>
            </a:solidFill>
            <a:prstDash val="solid"/>
          </a:ln>
        </p:spPr>
      </p:sp>
      <p:sp>
        <p:nvSpPr>
          <p:cNvPr id="19" name="Text 17"/>
          <p:cNvSpPr/>
          <p:nvPr/>
        </p:nvSpPr>
        <p:spPr>
          <a:xfrm>
            <a:off x="7461504" y="2267712"/>
            <a:ext cx="1920240" cy="374904"/>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CNN</a:t>
            </a:r>
            <a:endParaRPr lang="en-US" sz="1400" dirty="0"/>
          </a:p>
        </p:txBody>
      </p:sp>
      <p:sp>
        <p:nvSpPr>
          <p:cNvPr id="20" name="Text 18"/>
          <p:cNvSpPr/>
          <p:nvPr/>
        </p:nvSpPr>
        <p:spPr>
          <a:xfrm>
            <a:off x="7598664" y="2735885"/>
            <a:ext cx="1645920" cy="1053389"/>
          </a:xfrm>
          <a:prstGeom prst="rect">
            <a:avLst/>
          </a:prstGeom>
          <a:noFill/>
          <a:ln/>
        </p:spPr>
        <p:txBody>
          <a:bodyPr wrap="square" lIns="0" tIns="0" rIns="0" bIns="0" rtlCol="0" anchor="ctr"/>
          <a:lstStyle/>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int8 quantizzata</a:t>
            </a:r>
            <a:endParaRPr lang="en-US" sz="1100" dirty="0"/>
          </a:p>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8 classi</a:t>
            </a:r>
            <a:endParaRPr lang="en-US" sz="1100" dirty="0"/>
          </a:p>
        </p:txBody>
      </p:sp>
      <p:sp>
        <p:nvSpPr>
          <p:cNvPr id="21" name="Shape 19"/>
          <p:cNvSpPr/>
          <p:nvPr/>
        </p:nvSpPr>
        <p:spPr>
          <a:xfrm>
            <a:off x="9436608" y="2863901"/>
            <a:ext cx="201168" cy="280721"/>
          </a:xfrm>
          <a:prstGeom prst="chevron">
            <a:avLst/>
          </a:prstGeom>
          <a:solidFill>
            <a:srgbClr val="02C39A"/>
          </a:solidFill>
          <a:ln w="12700">
            <a:solidFill>
              <a:srgbClr val="02C39A"/>
            </a:solidFill>
            <a:prstDash val="solid"/>
          </a:ln>
        </p:spPr>
      </p:sp>
      <p:sp>
        <p:nvSpPr>
          <p:cNvPr id="22" name="Shape 20"/>
          <p:cNvSpPr/>
          <p:nvPr/>
        </p:nvSpPr>
        <p:spPr>
          <a:xfrm>
            <a:off x="9674352" y="2009851"/>
            <a:ext cx="1920240" cy="1989734"/>
          </a:xfrm>
          <a:prstGeom prst="roundRect">
            <a:avLst>
              <a:gd name="adj" fmla="val 3810"/>
            </a:avLst>
          </a:prstGeom>
          <a:solidFill>
            <a:srgbClr val="EAF7F2"/>
          </a:solidFill>
          <a:ln w="12700">
            <a:solidFill>
              <a:srgbClr val="E3E7F0"/>
            </a:solidFill>
            <a:prstDash val="solid"/>
          </a:ln>
        </p:spPr>
      </p:sp>
      <p:sp>
        <p:nvSpPr>
          <p:cNvPr id="23" name="Text 21"/>
          <p:cNvSpPr/>
          <p:nvPr/>
        </p:nvSpPr>
        <p:spPr>
          <a:xfrm>
            <a:off x="9674352" y="2267712"/>
            <a:ext cx="1920240" cy="374904"/>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Stato</a:t>
            </a:r>
            <a:endParaRPr lang="en-US" sz="1400" dirty="0"/>
          </a:p>
        </p:txBody>
      </p:sp>
      <p:sp>
        <p:nvSpPr>
          <p:cNvPr id="24" name="Text 22"/>
          <p:cNvSpPr/>
          <p:nvPr/>
        </p:nvSpPr>
        <p:spPr>
          <a:xfrm>
            <a:off x="9811512" y="2735885"/>
            <a:ext cx="1645920" cy="1053389"/>
          </a:xfrm>
          <a:prstGeom prst="rect">
            <a:avLst/>
          </a:prstGeom>
          <a:noFill/>
          <a:ln/>
        </p:spPr>
        <p:txBody>
          <a:bodyPr wrap="square" lIns="0" tIns="0" rIns="0" bIns="0" rtlCol="0" anchor="ctr"/>
          <a:lstStyle/>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regole</a:t>
            </a:r>
            <a:endParaRPr lang="en-US" sz="1100" dirty="0"/>
          </a:p>
          <a:p>
            <a:pPr algn="ctr" indent="0" marL="0">
              <a:lnSpc>
                <a:spcPts val="1500"/>
              </a:lnSpc>
              <a:buNone/>
            </a:pPr>
            <a:r>
              <a:rPr lang="en-US" sz="1100" dirty="0">
                <a:solidFill>
                  <a:srgbClr val="5A6272"/>
                </a:solidFill>
                <a:latin typeface="Calibri" pitchFamily="34" charset="0"/>
                <a:ea typeface="Calibri" pitchFamily="34" charset="-122"/>
                <a:cs typeface="Calibri" pitchFamily="34" charset="-120"/>
              </a:rPr>
              <a:t>deterministiche</a:t>
            </a:r>
            <a:endParaRPr lang="en-US" sz="1100" dirty="0"/>
          </a:p>
        </p:txBody>
      </p:sp>
      <p:sp>
        <p:nvSpPr>
          <p:cNvPr id="25" name="Text 23"/>
          <p:cNvSpPr/>
          <p:nvPr/>
        </p:nvSpPr>
        <p:spPr>
          <a:xfrm>
            <a:off x="822960" y="4643323"/>
            <a:ext cx="10607040" cy="702259"/>
          </a:xfrm>
          <a:prstGeom prst="rect">
            <a:avLst/>
          </a:prstGeom>
          <a:noFill/>
          <a:ln/>
        </p:spPr>
        <p:txBody>
          <a:bodyPr wrap="square" lIns="0" tIns="0" rIns="0" bIns="0" rtlCol="0" anchor="ctr"/>
          <a:lstStyle/>
          <a:p>
            <a:pPr indent="0" marL="0">
              <a:lnSpc>
                <a:spcPts val="2200"/>
              </a:lnSpc>
              <a:buNone/>
            </a:pPr>
            <a:r>
              <a:rPr lang="en-US" sz="1500" dirty="0">
                <a:solidFill>
                  <a:srgbClr val="1E2761"/>
                </a:solidFill>
                <a:latin typeface="Calibri" pitchFamily="34" charset="0"/>
                <a:ea typeface="Calibri" pitchFamily="34" charset="-122"/>
                <a:cs typeface="Calibri" pitchFamily="34" charset="-120"/>
              </a:rPr>
              <a:t>Ogni blocco ha un costo misurato e una scadenza. È questo che rende il progetto un problema di tempo reale e non solo di riconoscimento audio.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HARDWARE</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Un core, 264 KB, nessuna virgola mobile</a:t>
            </a:r>
            <a:endParaRPr lang="en-US" sz="3200" dirty="0"/>
          </a:p>
        </p:txBody>
      </p:sp>
      <p:sp>
        <p:nvSpPr>
          <p:cNvPr id="6" name="Text 4"/>
          <p:cNvSpPr/>
          <p:nvPr/>
        </p:nvSpPr>
        <p:spPr>
          <a:xfrm>
            <a:off x="822960" y="1892808"/>
            <a:ext cx="246888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133 MHz</a:t>
            </a:r>
            <a:endParaRPr lang="en-US" sz="4000" dirty="0"/>
          </a:p>
        </p:txBody>
      </p:sp>
      <p:sp>
        <p:nvSpPr>
          <p:cNvPr id="7" name="Text 5"/>
          <p:cNvSpPr/>
          <p:nvPr/>
        </p:nvSpPr>
        <p:spPr>
          <a:xfrm>
            <a:off x="822960" y="2606040"/>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Cortex-M0+</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senza FPU</a:t>
            </a:r>
            <a:endParaRPr lang="en-US" sz="1200" dirty="0"/>
          </a:p>
        </p:txBody>
      </p:sp>
      <p:sp>
        <p:nvSpPr>
          <p:cNvPr id="8" name="Text 6"/>
          <p:cNvSpPr/>
          <p:nvPr/>
        </p:nvSpPr>
        <p:spPr>
          <a:xfrm>
            <a:off x="3566160" y="1892808"/>
            <a:ext cx="246888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264 KB</a:t>
            </a:r>
            <a:endParaRPr lang="en-US" sz="4000" dirty="0"/>
          </a:p>
        </p:txBody>
      </p:sp>
      <p:sp>
        <p:nvSpPr>
          <p:cNvPr id="9" name="Text 7"/>
          <p:cNvSpPr/>
          <p:nvPr/>
        </p:nvSpPr>
        <p:spPr>
          <a:xfrm>
            <a:off x="3566160" y="2606040"/>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RAM totale</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220 usati</a:t>
            </a:r>
            <a:endParaRPr lang="en-US" sz="1200" dirty="0"/>
          </a:p>
        </p:txBody>
      </p:sp>
      <p:sp>
        <p:nvSpPr>
          <p:cNvPr id="10" name="Text 8"/>
          <p:cNvSpPr/>
          <p:nvPr/>
        </p:nvSpPr>
        <p:spPr>
          <a:xfrm>
            <a:off x="6309360" y="1892808"/>
            <a:ext cx="246888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 MB</a:t>
            </a:r>
            <a:endParaRPr lang="en-US" sz="4000" dirty="0"/>
          </a:p>
        </p:txBody>
      </p:sp>
      <p:sp>
        <p:nvSpPr>
          <p:cNvPr id="11" name="Text 9"/>
          <p:cNvSpPr/>
          <p:nvPr/>
        </p:nvSpPr>
        <p:spPr>
          <a:xfrm>
            <a:off x="6309360" y="2606040"/>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flash</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modello e codice</a:t>
            </a:r>
            <a:endParaRPr lang="en-US" sz="1200" dirty="0"/>
          </a:p>
        </p:txBody>
      </p:sp>
      <p:sp>
        <p:nvSpPr>
          <p:cNvPr id="12" name="Text 10"/>
          <p:cNvSpPr/>
          <p:nvPr/>
        </p:nvSpPr>
        <p:spPr>
          <a:xfrm>
            <a:off x="9052560" y="1892808"/>
            <a:ext cx="2468880" cy="68580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4 €</a:t>
            </a:r>
            <a:endParaRPr lang="en-US" sz="4000" dirty="0"/>
          </a:p>
        </p:txBody>
      </p:sp>
      <p:sp>
        <p:nvSpPr>
          <p:cNvPr id="13" name="Text 11"/>
          <p:cNvSpPr/>
          <p:nvPr/>
        </p:nvSpPr>
        <p:spPr>
          <a:xfrm>
            <a:off x="9052560" y="2606040"/>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costo</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del dispositivo</a:t>
            </a:r>
            <a:endParaRPr lang="en-US" sz="1200" dirty="0"/>
          </a:p>
        </p:txBody>
      </p:sp>
      <p:sp>
        <p:nvSpPr>
          <p:cNvPr id="14" name="Shape 12"/>
          <p:cNvSpPr/>
          <p:nvPr/>
        </p:nvSpPr>
        <p:spPr>
          <a:xfrm>
            <a:off x="822960" y="4116629"/>
            <a:ext cx="10607040" cy="1755648"/>
          </a:xfrm>
          <a:prstGeom prst="roundRect">
            <a:avLst>
              <a:gd name="adj" fmla="val 4167"/>
            </a:avLst>
          </a:prstGeom>
          <a:solidFill>
            <a:srgbClr val="F5F7FC"/>
          </a:solidFill>
          <a:ln w="12700">
            <a:solidFill>
              <a:srgbClr val="E3E7F0"/>
            </a:solidFill>
            <a:prstDash val="solid"/>
          </a:ln>
        </p:spPr>
      </p:sp>
      <p:sp>
        <p:nvSpPr>
          <p:cNvPr id="15" name="Text 13"/>
          <p:cNvSpPr/>
          <p:nvPr/>
        </p:nvSpPr>
        <p:spPr>
          <a:xfrm>
            <a:off x="1078992" y="4317797"/>
            <a:ext cx="100949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Il vincolo che decide tutto</a:t>
            </a:r>
            <a:endParaRPr lang="en-US" sz="1500" dirty="0"/>
          </a:p>
        </p:txBody>
      </p:sp>
      <p:sp>
        <p:nvSpPr>
          <p:cNvPr id="16" name="Text 14"/>
          <p:cNvSpPr/>
          <p:nvPr/>
        </p:nvSpPr>
        <p:spPr>
          <a:xfrm>
            <a:off x="1078992" y="4646981"/>
            <a:ext cx="10094976" cy="1005840"/>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Il Cortex-M0+ non ha unità in virgola mobile: ogni moltiplicazione float è emulata via software e costa decine di cicli. Il progetto è stato portato a 200 MHz e la FFT riscritta come trasformata reale, con filterbank in forma sparsa.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IL VINCOLO TEMPORALE</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L'audio non aspetta</a:t>
            </a:r>
            <a:endParaRPr lang="en-US" sz="3200" dirty="0"/>
          </a:p>
        </p:txBody>
      </p:sp>
      <p:sp>
        <p:nvSpPr>
          <p:cNvPr id="6" name="Shape 4"/>
          <p:cNvSpPr/>
          <p:nvPr/>
        </p:nvSpPr>
        <p:spPr>
          <a:xfrm>
            <a:off x="822960" y="1658722"/>
            <a:ext cx="10607040" cy="1521562"/>
          </a:xfrm>
          <a:prstGeom prst="roundRect">
            <a:avLst>
              <a:gd name="adj" fmla="val 4808"/>
            </a:avLst>
          </a:prstGeom>
          <a:solidFill>
            <a:srgbClr val="1E2761"/>
          </a:solidFill>
          <a:ln/>
        </p:spPr>
      </p:sp>
      <p:sp>
        <p:nvSpPr>
          <p:cNvPr id="7" name="Text 5"/>
          <p:cNvSpPr/>
          <p:nvPr/>
        </p:nvSpPr>
        <p:spPr>
          <a:xfrm>
            <a:off x="1143000" y="1951330"/>
            <a:ext cx="9966960" cy="936346"/>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Ogni 32 ms il DMA consegna un blocco. Se non viene elaborato prima del successivo, viene sovrascritto: quell'audio è perso per sempre.</a:t>
            </a:r>
            <a:endParaRPr lang="en-US" sz="1700" dirty="0"/>
          </a:p>
        </p:txBody>
      </p:sp>
      <p:sp>
        <p:nvSpPr>
          <p:cNvPr id="8" name="Shape 6"/>
          <p:cNvSpPr/>
          <p:nvPr/>
        </p:nvSpPr>
        <p:spPr>
          <a:xfrm>
            <a:off x="822960" y="3531413"/>
            <a:ext cx="3383280" cy="2340864"/>
          </a:xfrm>
          <a:prstGeom prst="roundRect">
            <a:avLst>
              <a:gd name="adj" fmla="val 3125"/>
            </a:avLst>
          </a:prstGeom>
          <a:solidFill>
            <a:srgbClr val="FBECEC"/>
          </a:solidFill>
          <a:ln w="12700">
            <a:solidFill>
              <a:srgbClr val="E3E7F0"/>
            </a:solidFill>
            <a:prstDash val="solid"/>
          </a:ln>
        </p:spPr>
      </p:sp>
      <p:sp>
        <p:nvSpPr>
          <p:cNvPr id="9" name="Text 7"/>
          <p:cNvSpPr/>
          <p:nvPr/>
        </p:nvSpPr>
        <p:spPr>
          <a:xfrm>
            <a:off x="1078992" y="3732581"/>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Scadenza dura</a:t>
            </a:r>
            <a:endParaRPr lang="en-US" sz="1500" dirty="0"/>
          </a:p>
        </p:txBody>
      </p:sp>
      <p:sp>
        <p:nvSpPr>
          <p:cNvPr id="10" name="Text 8"/>
          <p:cNvSpPr/>
          <p:nvPr/>
        </p:nvSpPr>
        <p:spPr>
          <a:xfrm>
            <a:off x="1078992" y="4061765"/>
            <a:ext cx="2871216" cy="159105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Acquisizione e DSP.</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Mancarla significa perdere audio, e nessun recupero è possibile.</a:t>
            </a:r>
            <a:endParaRPr lang="en-US" sz="1300" dirty="0"/>
          </a:p>
        </p:txBody>
      </p:sp>
      <p:sp>
        <p:nvSpPr>
          <p:cNvPr id="11" name="Shape 9"/>
          <p:cNvSpPr/>
          <p:nvPr/>
        </p:nvSpPr>
        <p:spPr>
          <a:xfrm>
            <a:off x="4434840" y="3531413"/>
            <a:ext cx="3383280" cy="2340864"/>
          </a:xfrm>
          <a:prstGeom prst="roundRect">
            <a:avLst>
              <a:gd name="adj" fmla="val 3125"/>
            </a:avLst>
          </a:prstGeom>
          <a:solidFill>
            <a:srgbClr val="FDF6E8"/>
          </a:solidFill>
          <a:ln w="12700">
            <a:solidFill>
              <a:srgbClr val="E3E7F0"/>
            </a:solidFill>
            <a:prstDash val="solid"/>
          </a:ln>
        </p:spPr>
      </p:sp>
      <p:sp>
        <p:nvSpPr>
          <p:cNvPr id="12" name="Text 10"/>
          <p:cNvSpPr/>
          <p:nvPr/>
        </p:nvSpPr>
        <p:spPr>
          <a:xfrm>
            <a:off x="4690872" y="3732581"/>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Scadenza morbida</a:t>
            </a:r>
            <a:endParaRPr lang="en-US" sz="1500" dirty="0"/>
          </a:p>
        </p:txBody>
      </p:sp>
      <p:sp>
        <p:nvSpPr>
          <p:cNvPr id="13" name="Text 11"/>
          <p:cNvSpPr/>
          <p:nvPr/>
        </p:nvSpPr>
        <p:spPr>
          <a:xfrm>
            <a:off x="4690872" y="4061765"/>
            <a:ext cx="2871216" cy="159105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Inferenza.</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Mancarla salta una predizione, recuperata al ciclo successivo.</a:t>
            </a:r>
            <a:endParaRPr lang="en-US" sz="1300" dirty="0"/>
          </a:p>
        </p:txBody>
      </p:sp>
      <p:sp>
        <p:nvSpPr>
          <p:cNvPr id="14" name="Shape 12"/>
          <p:cNvSpPr/>
          <p:nvPr/>
        </p:nvSpPr>
        <p:spPr>
          <a:xfrm>
            <a:off x="8046720" y="3531413"/>
            <a:ext cx="3383280" cy="2340864"/>
          </a:xfrm>
          <a:prstGeom prst="roundRect">
            <a:avLst>
              <a:gd name="adj" fmla="val 3125"/>
            </a:avLst>
          </a:prstGeom>
          <a:solidFill>
            <a:srgbClr val="EAF7F2"/>
          </a:solidFill>
          <a:ln w="12700">
            <a:solidFill>
              <a:srgbClr val="E3E7F0"/>
            </a:solidFill>
            <a:prstDash val="solid"/>
          </a:ln>
        </p:spPr>
      </p:sp>
      <p:sp>
        <p:nvSpPr>
          <p:cNvPr id="15" name="Text 13"/>
          <p:cNvSpPr/>
          <p:nvPr/>
        </p:nvSpPr>
        <p:spPr>
          <a:xfrm>
            <a:off x="8302752" y="3732581"/>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Nessuna scadenza</a:t>
            </a:r>
            <a:endParaRPr lang="en-US" sz="1500" dirty="0"/>
          </a:p>
        </p:txBody>
      </p:sp>
      <p:sp>
        <p:nvSpPr>
          <p:cNvPr id="16" name="Text 14"/>
          <p:cNvSpPr/>
          <p:nvPr/>
        </p:nvSpPr>
        <p:spPr>
          <a:xfrm>
            <a:off x="8302752" y="4061765"/>
            <a:ext cx="2871216" cy="159105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Trasmissione seriale.</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Il dato vive in RAM finché non viene inviato.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SISTEMA OPERATIVO</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FreeRTOS, priorità fisse, preemption</a:t>
            </a:r>
            <a:endParaRPr lang="en-US" sz="3200" dirty="0"/>
          </a:p>
        </p:txBody>
      </p:sp>
      <p:sp>
        <p:nvSpPr>
          <p:cNvPr id="6" name="Shape 4"/>
          <p:cNvSpPr/>
          <p:nvPr/>
        </p:nvSpPr>
        <p:spPr>
          <a:xfrm>
            <a:off x="822960" y="1658722"/>
            <a:ext cx="5120640" cy="2048256"/>
          </a:xfrm>
          <a:prstGeom prst="roundRect">
            <a:avLst>
              <a:gd name="adj" fmla="val 3571"/>
            </a:avLst>
          </a:prstGeom>
          <a:solidFill>
            <a:srgbClr val="F5F7FC"/>
          </a:solidFill>
          <a:ln w="12700">
            <a:solidFill>
              <a:srgbClr val="E3E7F0"/>
            </a:solidFill>
            <a:prstDash val="solid"/>
          </a:ln>
        </p:spPr>
      </p:sp>
      <p:sp>
        <p:nvSpPr>
          <p:cNvPr id="7" name="Text 5"/>
          <p:cNvSpPr/>
          <p:nvPr/>
        </p:nvSpPr>
        <p:spPr>
          <a:xfrm>
            <a:off x="1078992" y="1859890"/>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Perché un RTOS</a:t>
            </a:r>
            <a:endParaRPr lang="en-US" sz="1500" dirty="0"/>
          </a:p>
        </p:txBody>
      </p:sp>
      <p:sp>
        <p:nvSpPr>
          <p:cNvPr id="8" name="Text 6"/>
          <p:cNvSpPr/>
          <p:nvPr/>
        </p:nvSpPr>
        <p:spPr>
          <a:xfrm>
            <a:off x="1078992" y="2189074"/>
            <a:ext cx="4608576" cy="1298448"/>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Tre attività con periodi diversi — 32 ms, 496 ms, sporadica — che devono convivere su un core, con prelazione immediata della più urgente.</a:t>
            </a:r>
            <a:endParaRPr lang="en-US" sz="1300" dirty="0"/>
          </a:p>
        </p:txBody>
      </p:sp>
      <p:sp>
        <p:nvSpPr>
          <p:cNvPr id="9" name="Shape 7"/>
          <p:cNvSpPr/>
          <p:nvPr/>
        </p:nvSpPr>
        <p:spPr>
          <a:xfrm>
            <a:off x="6309360" y="1658722"/>
            <a:ext cx="5120640" cy="2048256"/>
          </a:xfrm>
          <a:prstGeom prst="roundRect">
            <a:avLst>
              <a:gd name="adj" fmla="val 3571"/>
            </a:avLst>
          </a:prstGeom>
          <a:solidFill>
            <a:srgbClr val="F5F7FC"/>
          </a:solidFill>
          <a:ln w="12700">
            <a:solidFill>
              <a:srgbClr val="E3E7F0"/>
            </a:solidFill>
            <a:prstDash val="solid"/>
          </a:ln>
        </p:spPr>
      </p:sp>
      <p:sp>
        <p:nvSpPr>
          <p:cNvPr id="10" name="Text 8"/>
          <p:cNvSpPr/>
          <p:nvPr/>
        </p:nvSpPr>
        <p:spPr>
          <a:xfrm>
            <a:off x="6565392" y="1859890"/>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Perché FreeRTOS</a:t>
            </a:r>
            <a:endParaRPr lang="en-US" sz="1500" dirty="0"/>
          </a:p>
        </p:txBody>
      </p:sp>
      <p:sp>
        <p:nvSpPr>
          <p:cNvPr id="11" name="Text 9"/>
          <p:cNvSpPr/>
          <p:nvPr/>
        </p:nvSpPr>
        <p:spPr>
          <a:xfrm>
            <a:off x="6565392" y="2189074"/>
            <a:ext cx="4608576" cy="1298448"/>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Porting ufficiale per RP2040, integrazione con SDK e DMA, footprint contenuto: 80 KB di heap ne bastano 50.</a:t>
            </a:r>
            <a:endParaRPr lang="en-US" sz="1300" dirty="0"/>
          </a:p>
        </p:txBody>
      </p:sp>
      <p:sp>
        <p:nvSpPr>
          <p:cNvPr id="12" name="Shape 10"/>
          <p:cNvSpPr/>
          <p:nvPr/>
        </p:nvSpPr>
        <p:spPr>
          <a:xfrm>
            <a:off x="822960" y="3941064"/>
            <a:ext cx="10607040" cy="1989734"/>
          </a:xfrm>
          <a:prstGeom prst="roundRect">
            <a:avLst>
              <a:gd name="adj" fmla="val 3676"/>
            </a:avLst>
          </a:prstGeom>
          <a:solidFill>
            <a:srgbClr val="EAF7F2"/>
          </a:solidFill>
          <a:ln w="12700">
            <a:solidFill>
              <a:srgbClr val="E3E7F0"/>
            </a:solidFill>
            <a:prstDash val="solid"/>
          </a:ln>
        </p:spPr>
      </p:sp>
      <p:sp>
        <p:nvSpPr>
          <p:cNvPr id="13" name="Text 11"/>
          <p:cNvSpPr/>
          <p:nvPr/>
        </p:nvSpPr>
        <p:spPr>
          <a:xfrm>
            <a:off x="1078992" y="4142232"/>
            <a:ext cx="100949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Scheduler: priorità fisse con prelazione</a:t>
            </a:r>
            <a:endParaRPr lang="en-US" sz="1500" dirty="0"/>
          </a:p>
        </p:txBody>
      </p:sp>
      <p:sp>
        <p:nvSpPr>
          <p:cNvPr id="14" name="Text 12"/>
          <p:cNvSpPr/>
          <p:nvPr/>
        </p:nvSpPr>
        <p:spPr>
          <a:xfrm>
            <a:off x="1078992" y="4471416"/>
            <a:ext cx="10094976" cy="123992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L'assegnazione segue Rate Monotonic — periodo più breve, priorità più alta. Non è una convenzione: coincide con l'ordine di urgenza delle scadenze, perché il task con il periodo più corto è anche quello con la scadenza dura.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PROGETTO DEI TASK</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Tre task, tre priorità</a:t>
            </a:r>
            <a:endParaRPr lang="en-US" sz="3200" dirty="0"/>
          </a:p>
        </p:txBody>
      </p:sp>
      <p:sp>
        <p:nvSpPr>
          <p:cNvPr id="6" name="Text 4"/>
          <p:cNvSpPr/>
          <p:nvPr/>
        </p:nvSpPr>
        <p:spPr>
          <a:xfrm>
            <a:off x="822960" y="1600200"/>
            <a:ext cx="1920240" cy="351130"/>
          </a:xfrm>
          <a:prstGeom prst="rect">
            <a:avLst/>
          </a:prstGeom>
          <a:noFill/>
          <a:ln/>
        </p:spPr>
        <p:txBody>
          <a:bodyPr wrap="square" lIns="0" tIns="0" rIns="0" bIns="0" rtlCol="0" anchor="ctr"/>
          <a:lstStyle/>
          <a:p>
            <a:pPr indent="0" marL="0">
              <a:buNone/>
            </a:pPr>
            <a:r>
              <a:rPr lang="en-US" sz="1200" b="1" dirty="0">
                <a:solidFill>
                  <a:srgbClr val="5A6272"/>
                </a:solidFill>
                <a:latin typeface="Calibri" pitchFamily="34" charset="0"/>
                <a:ea typeface="Calibri" pitchFamily="34" charset="-122"/>
                <a:cs typeface="Calibri" pitchFamily="34" charset="-120"/>
              </a:rPr>
              <a:t>Task</a:t>
            </a:r>
            <a:endParaRPr lang="en-US" sz="1200" dirty="0"/>
          </a:p>
        </p:txBody>
      </p:sp>
      <p:sp>
        <p:nvSpPr>
          <p:cNvPr id="7" name="Text 5"/>
          <p:cNvSpPr/>
          <p:nvPr/>
        </p:nvSpPr>
        <p:spPr>
          <a:xfrm>
            <a:off x="2834640" y="1600200"/>
            <a:ext cx="1280160" cy="351130"/>
          </a:xfrm>
          <a:prstGeom prst="rect">
            <a:avLst/>
          </a:prstGeom>
          <a:noFill/>
          <a:ln/>
        </p:spPr>
        <p:txBody>
          <a:bodyPr wrap="square" lIns="0" tIns="0" rIns="0" bIns="0" rtlCol="0" anchor="ctr"/>
          <a:lstStyle/>
          <a:p>
            <a:pPr indent="0" marL="0">
              <a:buNone/>
            </a:pPr>
            <a:r>
              <a:rPr lang="en-US" sz="1200" b="1" dirty="0">
                <a:solidFill>
                  <a:srgbClr val="5A6272"/>
                </a:solidFill>
                <a:latin typeface="Calibri" pitchFamily="34" charset="0"/>
                <a:ea typeface="Calibri" pitchFamily="34" charset="-122"/>
                <a:cs typeface="Calibri" pitchFamily="34" charset="-120"/>
              </a:rPr>
              <a:t>Priorità</a:t>
            </a:r>
            <a:endParaRPr lang="en-US" sz="1200" dirty="0"/>
          </a:p>
        </p:txBody>
      </p:sp>
      <p:sp>
        <p:nvSpPr>
          <p:cNvPr id="8" name="Text 6"/>
          <p:cNvSpPr/>
          <p:nvPr/>
        </p:nvSpPr>
        <p:spPr>
          <a:xfrm>
            <a:off x="4206240" y="1600200"/>
            <a:ext cx="2560320" cy="351130"/>
          </a:xfrm>
          <a:prstGeom prst="rect">
            <a:avLst/>
          </a:prstGeom>
          <a:noFill/>
          <a:ln/>
        </p:spPr>
        <p:txBody>
          <a:bodyPr wrap="square" lIns="0" tIns="0" rIns="0" bIns="0" rtlCol="0" anchor="ctr"/>
          <a:lstStyle/>
          <a:p>
            <a:pPr indent="0" marL="0">
              <a:buNone/>
            </a:pPr>
            <a:r>
              <a:rPr lang="en-US" sz="1200" b="1" dirty="0">
                <a:solidFill>
                  <a:srgbClr val="5A6272"/>
                </a:solidFill>
                <a:latin typeface="Calibri" pitchFamily="34" charset="0"/>
                <a:ea typeface="Calibri" pitchFamily="34" charset="-122"/>
                <a:cs typeface="Calibri" pitchFamily="34" charset="-120"/>
              </a:rPr>
              <a:t>Attivazione</a:t>
            </a:r>
            <a:endParaRPr lang="en-US" sz="1200" dirty="0"/>
          </a:p>
        </p:txBody>
      </p:sp>
      <p:sp>
        <p:nvSpPr>
          <p:cNvPr id="9" name="Text 7"/>
          <p:cNvSpPr/>
          <p:nvPr/>
        </p:nvSpPr>
        <p:spPr>
          <a:xfrm>
            <a:off x="6858000" y="1600200"/>
            <a:ext cx="4572000" cy="351130"/>
          </a:xfrm>
          <a:prstGeom prst="rect">
            <a:avLst/>
          </a:prstGeom>
          <a:noFill/>
          <a:ln/>
        </p:spPr>
        <p:txBody>
          <a:bodyPr wrap="square" lIns="0" tIns="0" rIns="0" bIns="0" rtlCol="0" anchor="ctr"/>
          <a:lstStyle/>
          <a:p>
            <a:pPr indent="0" marL="0">
              <a:buNone/>
            </a:pPr>
            <a:r>
              <a:rPr lang="en-US" sz="1200" b="1" dirty="0">
                <a:solidFill>
                  <a:srgbClr val="5A6272"/>
                </a:solidFill>
                <a:latin typeface="Calibri" pitchFamily="34" charset="0"/>
                <a:ea typeface="Calibri" pitchFamily="34" charset="-122"/>
                <a:cs typeface="Calibri" pitchFamily="34" charset="-120"/>
              </a:rPr>
              <a:t>Contenuto</a:t>
            </a:r>
            <a:endParaRPr lang="en-US" sz="1200" dirty="0"/>
          </a:p>
        </p:txBody>
      </p:sp>
      <p:sp>
        <p:nvSpPr>
          <p:cNvPr id="10" name="Shape 8"/>
          <p:cNvSpPr/>
          <p:nvPr/>
        </p:nvSpPr>
        <p:spPr>
          <a:xfrm>
            <a:off x="822960" y="2068373"/>
            <a:ext cx="10607040" cy="822960"/>
          </a:xfrm>
          <a:prstGeom prst="roundRect">
            <a:avLst>
              <a:gd name="adj" fmla="val 6667"/>
            </a:avLst>
          </a:prstGeom>
          <a:solidFill>
            <a:srgbClr val="F5F7FC"/>
          </a:solidFill>
          <a:ln w="12700">
            <a:solidFill>
              <a:srgbClr val="E3E7F0"/>
            </a:solidFill>
            <a:prstDash val="solid"/>
          </a:ln>
        </p:spPr>
      </p:sp>
      <p:sp>
        <p:nvSpPr>
          <p:cNvPr id="11" name="Text 9"/>
          <p:cNvSpPr/>
          <p:nvPr/>
        </p:nvSpPr>
        <p:spPr>
          <a:xfrm>
            <a:off x="1005840" y="2068373"/>
            <a:ext cx="1828800" cy="82296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Task_DSP</a:t>
            </a:r>
            <a:endParaRPr lang="en-US" sz="1300" dirty="0"/>
          </a:p>
        </p:txBody>
      </p:sp>
      <p:sp>
        <p:nvSpPr>
          <p:cNvPr id="12" name="Shape 10"/>
          <p:cNvSpPr/>
          <p:nvPr/>
        </p:nvSpPr>
        <p:spPr>
          <a:xfrm>
            <a:off x="2926080" y="2324405"/>
            <a:ext cx="329184" cy="329184"/>
          </a:xfrm>
          <a:prstGeom prst="ellipse">
            <a:avLst/>
          </a:prstGeom>
          <a:solidFill>
            <a:srgbClr val="1E2761"/>
          </a:solidFill>
          <a:ln/>
        </p:spPr>
      </p:sp>
      <p:sp>
        <p:nvSpPr>
          <p:cNvPr id="13" name="Text 11"/>
          <p:cNvSpPr/>
          <p:nvPr/>
        </p:nvSpPr>
        <p:spPr>
          <a:xfrm>
            <a:off x="2926080" y="2324405"/>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4206240" y="2068373"/>
            <a:ext cx="2560320" cy="82296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periodico, 32 ms</a:t>
            </a:r>
            <a:endParaRPr lang="en-US" sz="1300" dirty="0"/>
          </a:p>
        </p:txBody>
      </p:sp>
      <p:sp>
        <p:nvSpPr>
          <p:cNvPr id="15" name="Text 13"/>
          <p:cNvSpPr/>
          <p:nvPr/>
        </p:nvSpPr>
        <p:spPr>
          <a:xfrm>
            <a:off x="6858000" y="2068373"/>
            <a:ext cx="4572000" cy="82296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FIR, decimazione, FFT, mel</a:t>
            </a:r>
            <a:endParaRPr lang="en-US" sz="1300" dirty="0"/>
          </a:p>
        </p:txBody>
      </p:sp>
      <p:sp>
        <p:nvSpPr>
          <p:cNvPr id="16" name="Shape 14"/>
          <p:cNvSpPr/>
          <p:nvPr/>
        </p:nvSpPr>
        <p:spPr>
          <a:xfrm>
            <a:off x="822960" y="3063240"/>
            <a:ext cx="10607040" cy="822960"/>
          </a:xfrm>
          <a:prstGeom prst="roundRect">
            <a:avLst>
              <a:gd name="adj" fmla="val 6667"/>
            </a:avLst>
          </a:prstGeom>
          <a:solidFill>
            <a:srgbClr val="F5F7FC"/>
          </a:solidFill>
          <a:ln w="12700">
            <a:solidFill>
              <a:srgbClr val="E3E7F0"/>
            </a:solidFill>
            <a:prstDash val="solid"/>
          </a:ln>
        </p:spPr>
      </p:sp>
      <p:sp>
        <p:nvSpPr>
          <p:cNvPr id="17" name="Text 15"/>
          <p:cNvSpPr/>
          <p:nvPr/>
        </p:nvSpPr>
        <p:spPr>
          <a:xfrm>
            <a:off x="1005840" y="3063240"/>
            <a:ext cx="1828800" cy="82296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Task_ML</a:t>
            </a:r>
            <a:endParaRPr lang="en-US" sz="1300" dirty="0"/>
          </a:p>
        </p:txBody>
      </p:sp>
      <p:sp>
        <p:nvSpPr>
          <p:cNvPr id="18" name="Shape 16"/>
          <p:cNvSpPr/>
          <p:nvPr/>
        </p:nvSpPr>
        <p:spPr>
          <a:xfrm>
            <a:off x="2926080" y="3319272"/>
            <a:ext cx="329184" cy="329184"/>
          </a:xfrm>
          <a:prstGeom prst="ellipse">
            <a:avLst/>
          </a:prstGeom>
          <a:solidFill>
            <a:srgbClr val="2C3A75"/>
          </a:solidFill>
          <a:ln/>
        </p:spPr>
      </p:sp>
      <p:sp>
        <p:nvSpPr>
          <p:cNvPr id="19" name="Text 17"/>
          <p:cNvSpPr/>
          <p:nvPr/>
        </p:nvSpPr>
        <p:spPr>
          <a:xfrm>
            <a:off x="2926080" y="33192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4206240" y="3063240"/>
            <a:ext cx="2560320" cy="82296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periodico, 496 ms</a:t>
            </a:r>
            <a:endParaRPr lang="en-US" sz="1300" dirty="0"/>
          </a:p>
        </p:txBody>
      </p:sp>
      <p:sp>
        <p:nvSpPr>
          <p:cNvPr id="21" name="Text 19"/>
          <p:cNvSpPr/>
          <p:nvPr/>
        </p:nvSpPr>
        <p:spPr>
          <a:xfrm>
            <a:off x="6858000" y="3063240"/>
            <a:ext cx="4572000" cy="82296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quantizzazione, CNN, macchina a stati</a:t>
            </a:r>
            <a:endParaRPr lang="en-US" sz="1300" dirty="0"/>
          </a:p>
        </p:txBody>
      </p:sp>
      <p:sp>
        <p:nvSpPr>
          <p:cNvPr id="22" name="Shape 20"/>
          <p:cNvSpPr/>
          <p:nvPr/>
        </p:nvSpPr>
        <p:spPr>
          <a:xfrm>
            <a:off x="822960" y="4058107"/>
            <a:ext cx="10607040" cy="822960"/>
          </a:xfrm>
          <a:prstGeom prst="roundRect">
            <a:avLst>
              <a:gd name="adj" fmla="val 6667"/>
            </a:avLst>
          </a:prstGeom>
          <a:solidFill>
            <a:srgbClr val="F5F7FC"/>
          </a:solidFill>
          <a:ln w="12700">
            <a:solidFill>
              <a:srgbClr val="E3E7F0"/>
            </a:solidFill>
            <a:prstDash val="solid"/>
          </a:ln>
        </p:spPr>
      </p:sp>
      <p:sp>
        <p:nvSpPr>
          <p:cNvPr id="23" name="Text 21"/>
          <p:cNvSpPr/>
          <p:nvPr/>
        </p:nvSpPr>
        <p:spPr>
          <a:xfrm>
            <a:off x="1005840" y="4058107"/>
            <a:ext cx="1828800" cy="82296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Task_Serial</a:t>
            </a:r>
            <a:endParaRPr lang="en-US" sz="1300" dirty="0"/>
          </a:p>
        </p:txBody>
      </p:sp>
      <p:sp>
        <p:nvSpPr>
          <p:cNvPr id="24" name="Shape 22"/>
          <p:cNvSpPr/>
          <p:nvPr/>
        </p:nvSpPr>
        <p:spPr>
          <a:xfrm>
            <a:off x="2926080" y="4314139"/>
            <a:ext cx="329184" cy="329184"/>
          </a:xfrm>
          <a:prstGeom prst="ellipse">
            <a:avLst/>
          </a:prstGeom>
          <a:solidFill>
            <a:srgbClr val="3A4A88"/>
          </a:solidFill>
          <a:ln/>
        </p:spPr>
      </p:sp>
      <p:sp>
        <p:nvSpPr>
          <p:cNvPr id="25" name="Text 23"/>
          <p:cNvSpPr/>
          <p:nvPr/>
        </p:nvSpPr>
        <p:spPr>
          <a:xfrm>
            <a:off x="2926080" y="4314139"/>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6" name="Text 24"/>
          <p:cNvSpPr/>
          <p:nvPr/>
        </p:nvSpPr>
        <p:spPr>
          <a:xfrm>
            <a:off x="4206240" y="4058107"/>
            <a:ext cx="2560320" cy="82296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sporadico</a:t>
            </a:r>
            <a:endParaRPr lang="en-US" sz="1300" dirty="0"/>
          </a:p>
        </p:txBody>
      </p:sp>
      <p:sp>
        <p:nvSpPr>
          <p:cNvPr id="27" name="Text 25"/>
          <p:cNvSpPr/>
          <p:nvPr/>
        </p:nvSpPr>
        <p:spPr>
          <a:xfrm>
            <a:off x="6858000" y="4058107"/>
            <a:ext cx="4572000" cy="82296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JSON, clip di prova, comandi</a:t>
            </a:r>
            <a:endParaRPr lang="en-US" sz="1300" dirty="0"/>
          </a:p>
        </p:txBody>
      </p:sp>
      <p:sp>
        <p:nvSpPr>
          <p:cNvPr id="28" name="Text 26"/>
          <p:cNvSpPr/>
          <p:nvPr/>
        </p:nvSpPr>
        <p:spPr>
          <a:xfrm>
            <a:off x="822960" y="5228539"/>
            <a:ext cx="10607040" cy="526694"/>
          </a:xfrm>
          <a:prstGeom prst="rect">
            <a:avLst/>
          </a:prstGeom>
          <a:noFill/>
          <a:ln/>
        </p:spPr>
        <p:txBody>
          <a:bodyPr wrap="square" lIns="0" tIns="0" rIns="0" bIns="0" rtlCol="0" anchor="ctr"/>
          <a:lstStyle/>
          <a:p>
            <a:pPr indent="0" marL="0">
              <a:buNone/>
            </a:pPr>
            <a:r>
              <a:rPr lang="en-US" sz="1300" i="1" dirty="0">
                <a:solidFill>
                  <a:srgbClr val="5A6272"/>
                </a:solidFill>
                <a:latin typeface="Calibri" pitchFamily="34" charset="0"/>
                <a:ea typeface="Calibri" pitchFamily="34" charset="-122"/>
                <a:cs typeface="Calibri" pitchFamily="34" charset="-120"/>
              </a:rPr>
              <a:t>Più la ISR del DMA, a priorità hardware bassa perché chiama API del kernel, e i task Idle e Timer di FreeRTOS.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ACQUISIZIONE</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Il percorso critico: DMA in ping-pong</a:t>
            </a:r>
            <a:endParaRPr lang="en-US" sz="3200" dirty="0"/>
          </a:p>
        </p:txBody>
      </p:sp>
      <p:sp>
        <p:nvSpPr>
          <p:cNvPr id="6" name="Text 4"/>
          <p:cNvSpPr/>
          <p:nvPr/>
        </p:nvSpPr>
        <p:spPr>
          <a:xfrm>
            <a:off x="822960" y="1600200"/>
            <a:ext cx="10607040" cy="468173"/>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Mentre un buffer viene elaborato, l'altro si riempie. La CPU non attende mai il convertitore.</a:t>
            </a:r>
            <a:endParaRPr lang="en-US" sz="1500" dirty="0"/>
          </a:p>
        </p:txBody>
      </p:sp>
      <p:sp>
        <p:nvSpPr>
          <p:cNvPr id="7" name="Shape 5"/>
          <p:cNvSpPr/>
          <p:nvPr/>
        </p:nvSpPr>
        <p:spPr>
          <a:xfrm>
            <a:off x="822960" y="2360981"/>
            <a:ext cx="2423160" cy="1345997"/>
          </a:xfrm>
          <a:prstGeom prst="roundRect">
            <a:avLst>
              <a:gd name="adj" fmla="val 5435"/>
            </a:avLst>
          </a:prstGeom>
          <a:solidFill>
            <a:srgbClr val="F5F7FC"/>
          </a:solidFill>
          <a:ln w="12700">
            <a:solidFill>
              <a:srgbClr val="E3E7F0"/>
            </a:solidFill>
            <a:prstDash val="solid"/>
          </a:ln>
        </p:spPr>
      </p:sp>
      <p:sp>
        <p:nvSpPr>
          <p:cNvPr id="8" name="Text 6"/>
          <p:cNvSpPr/>
          <p:nvPr/>
        </p:nvSpPr>
        <p:spPr>
          <a:xfrm>
            <a:off x="960120" y="2536546"/>
            <a:ext cx="2148840" cy="994867"/>
          </a:xfrm>
          <a:prstGeom prst="rect">
            <a:avLst/>
          </a:prstGeom>
          <a:noFill/>
          <a:ln/>
        </p:spPr>
        <p:txBody>
          <a:bodyPr wrap="square" lIns="0" tIns="0" rIns="0" bIns="0" rtlCol="0" anchor="ctr"/>
          <a:lstStyle/>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ADC free-running</a:t>
            </a:r>
            <a:endParaRPr lang="en-US" sz="1200" dirty="0"/>
          </a:p>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48 kHz esatti</a:t>
            </a:r>
            <a:endParaRPr lang="en-US" sz="1200" dirty="0"/>
          </a:p>
        </p:txBody>
      </p:sp>
      <p:sp>
        <p:nvSpPr>
          <p:cNvPr id="9" name="Shape 7"/>
          <p:cNvSpPr/>
          <p:nvPr/>
        </p:nvSpPr>
        <p:spPr>
          <a:xfrm>
            <a:off x="3520440" y="2360981"/>
            <a:ext cx="2423160" cy="1345997"/>
          </a:xfrm>
          <a:prstGeom prst="roundRect">
            <a:avLst>
              <a:gd name="adj" fmla="val 5435"/>
            </a:avLst>
          </a:prstGeom>
          <a:solidFill>
            <a:srgbClr val="F5F7FC"/>
          </a:solidFill>
          <a:ln w="12700">
            <a:solidFill>
              <a:srgbClr val="E3E7F0"/>
            </a:solidFill>
            <a:prstDash val="solid"/>
          </a:ln>
        </p:spPr>
      </p:sp>
      <p:sp>
        <p:nvSpPr>
          <p:cNvPr id="10" name="Text 8"/>
          <p:cNvSpPr/>
          <p:nvPr/>
        </p:nvSpPr>
        <p:spPr>
          <a:xfrm>
            <a:off x="3657600" y="2536546"/>
            <a:ext cx="2148840" cy="994867"/>
          </a:xfrm>
          <a:prstGeom prst="rect">
            <a:avLst/>
          </a:prstGeom>
          <a:noFill/>
          <a:ln/>
        </p:spPr>
        <p:txBody>
          <a:bodyPr wrap="square" lIns="0" tIns="0" rIns="0" bIns="0" rtlCol="0" anchor="ctr"/>
          <a:lstStyle/>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DMA riempie A</a:t>
            </a:r>
            <a:endParaRPr lang="en-US" sz="1200" dirty="0"/>
          </a:p>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CPU elabora B</a:t>
            </a:r>
            <a:endParaRPr lang="en-US" sz="1200" dirty="0"/>
          </a:p>
        </p:txBody>
      </p:sp>
      <p:sp>
        <p:nvSpPr>
          <p:cNvPr id="11" name="Shape 9"/>
          <p:cNvSpPr/>
          <p:nvPr/>
        </p:nvSpPr>
        <p:spPr>
          <a:xfrm>
            <a:off x="6217920" y="2360981"/>
            <a:ext cx="2423160" cy="1345997"/>
          </a:xfrm>
          <a:prstGeom prst="roundRect">
            <a:avLst>
              <a:gd name="adj" fmla="val 5435"/>
            </a:avLst>
          </a:prstGeom>
          <a:solidFill>
            <a:srgbClr val="F5F7FC"/>
          </a:solidFill>
          <a:ln w="12700">
            <a:solidFill>
              <a:srgbClr val="E3E7F0"/>
            </a:solidFill>
            <a:prstDash val="solid"/>
          </a:ln>
        </p:spPr>
      </p:sp>
      <p:sp>
        <p:nvSpPr>
          <p:cNvPr id="12" name="Text 10"/>
          <p:cNvSpPr/>
          <p:nvPr/>
        </p:nvSpPr>
        <p:spPr>
          <a:xfrm>
            <a:off x="6355080" y="2536546"/>
            <a:ext cx="2148840" cy="994867"/>
          </a:xfrm>
          <a:prstGeom prst="rect">
            <a:avLst/>
          </a:prstGeom>
          <a:noFill/>
          <a:ln/>
        </p:spPr>
        <p:txBody>
          <a:bodyPr wrap="square" lIns="0" tIns="0" rIns="0" bIns="0" rtlCol="0" anchor="ctr"/>
          <a:lstStyle/>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ISR riarma</a:t>
            </a:r>
            <a:endParaRPr lang="en-US" sz="1200" dirty="0"/>
          </a:p>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e dà il semaforo</a:t>
            </a:r>
            <a:endParaRPr lang="en-US" sz="1200" dirty="0"/>
          </a:p>
        </p:txBody>
      </p:sp>
      <p:sp>
        <p:nvSpPr>
          <p:cNvPr id="13" name="Shape 11"/>
          <p:cNvSpPr/>
          <p:nvPr/>
        </p:nvSpPr>
        <p:spPr>
          <a:xfrm>
            <a:off x="8915400" y="2360981"/>
            <a:ext cx="2423160" cy="1345997"/>
          </a:xfrm>
          <a:prstGeom prst="roundRect">
            <a:avLst>
              <a:gd name="adj" fmla="val 5435"/>
            </a:avLst>
          </a:prstGeom>
          <a:solidFill>
            <a:srgbClr val="F5F7FC"/>
          </a:solidFill>
          <a:ln w="12700">
            <a:solidFill>
              <a:srgbClr val="E3E7F0"/>
            </a:solidFill>
            <a:prstDash val="solid"/>
          </a:ln>
        </p:spPr>
      </p:sp>
      <p:sp>
        <p:nvSpPr>
          <p:cNvPr id="14" name="Text 12"/>
          <p:cNvSpPr/>
          <p:nvPr/>
        </p:nvSpPr>
        <p:spPr>
          <a:xfrm>
            <a:off x="9052560" y="2536546"/>
            <a:ext cx="2148840" cy="994867"/>
          </a:xfrm>
          <a:prstGeom prst="rect">
            <a:avLst/>
          </a:prstGeom>
          <a:noFill/>
          <a:ln/>
        </p:spPr>
        <p:txBody>
          <a:bodyPr wrap="square" lIns="0" tIns="0" rIns="0" bIns="0" rtlCol="0" anchor="ctr"/>
          <a:lstStyle/>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Task_DSP</a:t>
            </a:r>
            <a:endParaRPr lang="en-US" sz="1200" dirty="0"/>
          </a:p>
          <a:p>
            <a:pPr algn="ctr" indent="0" marL="0">
              <a:lnSpc>
                <a:spcPts val="1600"/>
              </a:lnSpc>
              <a:buNone/>
            </a:pPr>
            <a:r>
              <a:rPr lang="en-US" sz="1200" dirty="0">
                <a:solidFill>
                  <a:srgbClr val="1E2761"/>
                </a:solidFill>
                <a:latin typeface="Calibri" pitchFamily="34" charset="0"/>
                <a:ea typeface="Calibri" pitchFamily="34" charset="-122"/>
                <a:cs typeface="Calibri" pitchFamily="34" charset="-120"/>
              </a:rPr>
              <a:t>sblocca in 32 ms</a:t>
            </a:r>
            <a:endParaRPr lang="en-US" sz="1200" dirty="0"/>
          </a:p>
        </p:txBody>
      </p:sp>
      <p:sp>
        <p:nvSpPr>
          <p:cNvPr id="15" name="Shape 13"/>
          <p:cNvSpPr/>
          <p:nvPr/>
        </p:nvSpPr>
        <p:spPr>
          <a:xfrm>
            <a:off x="822960" y="4058107"/>
            <a:ext cx="10607040" cy="1814170"/>
          </a:xfrm>
          <a:prstGeom prst="roundRect">
            <a:avLst>
              <a:gd name="adj" fmla="val 4032"/>
            </a:avLst>
          </a:prstGeom>
          <a:solidFill>
            <a:srgbClr val="FDF6E8"/>
          </a:solidFill>
          <a:ln w="12700">
            <a:solidFill>
              <a:srgbClr val="E3E7F0"/>
            </a:solidFill>
            <a:prstDash val="solid"/>
          </a:ln>
        </p:spPr>
      </p:sp>
      <p:sp>
        <p:nvSpPr>
          <p:cNvPr id="16" name="Text 14"/>
          <p:cNvSpPr/>
          <p:nvPr/>
        </p:nvSpPr>
        <p:spPr>
          <a:xfrm>
            <a:off x="1078992" y="4259275"/>
            <a:ext cx="100949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La prima versione non funzionava</a:t>
            </a:r>
            <a:endParaRPr lang="en-US" sz="1500" dirty="0"/>
          </a:p>
        </p:txBody>
      </p:sp>
      <p:sp>
        <p:nvSpPr>
          <p:cNvPr id="17" name="Text 15"/>
          <p:cNvSpPr/>
          <p:nvPr/>
        </p:nvSpPr>
        <p:spPr>
          <a:xfrm>
            <a:off x="1078992" y="4588459"/>
            <a:ext cx="10094976" cy="1064362"/>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Il campionamento avveniva con attesa attiva: 1,5 secondi in cui il processore leggeva il convertitore e non faceva altro. Il passaggio al DMA ha eliminato quell'attesa e reso il jitter del DSP inferiore all'1,5%.</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OCCUPAZIONE DEL PROCESSORE</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Dove va il tempo</a:t>
            </a:r>
            <a:endParaRPr lang="en-US" sz="3200" dirty="0"/>
          </a:p>
        </p:txBody>
      </p:sp>
      <p:graphicFrame>
        <p:nvGraphicFramePr>
          <p:cNvPr id="6" name="Chart 0" descr=""/>
          <p:cNvGraphicFramePr/>
          <p:nvPr/>
        </p:nvGraphicFramePr>
        <p:xfrm>
          <a:off x="822960" y="1717243"/>
          <a:ext cx="6035040" cy="4096512"/>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23760" y="1717243"/>
            <a:ext cx="4206240" cy="1872691"/>
          </a:xfrm>
          <a:prstGeom prst="roundRect">
            <a:avLst>
              <a:gd name="adj" fmla="val 3906"/>
            </a:avLst>
          </a:prstGeom>
          <a:solidFill>
            <a:srgbClr val="F5F7FC"/>
          </a:solidFill>
          <a:ln w="12700">
            <a:solidFill>
              <a:srgbClr val="E3E7F0"/>
            </a:solidFill>
            <a:prstDash val="solid"/>
          </a:ln>
        </p:spPr>
      </p:sp>
      <p:sp>
        <p:nvSpPr>
          <p:cNvPr id="8" name="Text 5"/>
          <p:cNvSpPr/>
          <p:nvPr/>
        </p:nvSpPr>
        <p:spPr>
          <a:xfrm>
            <a:off x="7479792" y="1918411"/>
            <a:ext cx="36941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Task_DSP</a:t>
            </a:r>
            <a:endParaRPr lang="en-US" sz="1500" dirty="0"/>
          </a:p>
        </p:txBody>
      </p:sp>
      <p:sp>
        <p:nvSpPr>
          <p:cNvPr id="9" name="Text 6"/>
          <p:cNvSpPr/>
          <p:nvPr/>
        </p:nvSpPr>
        <p:spPr>
          <a:xfrm>
            <a:off x="7479792" y="2247595"/>
            <a:ext cx="3694176" cy="1122883"/>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20,8 ms di calcolo</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su 32 ms di periodo</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 65% del processore</a:t>
            </a:r>
            <a:endParaRPr lang="en-US" sz="1300" dirty="0"/>
          </a:p>
        </p:txBody>
      </p:sp>
      <p:sp>
        <p:nvSpPr>
          <p:cNvPr id="10" name="Shape 7"/>
          <p:cNvSpPr/>
          <p:nvPr/>
        </p:nvSpPr>
        <p:spPr>
          <a:xfrm>
            <a:off x="7223760" y="3941064"/>
            <a:ext cx="4206240" cy="1872691"/>
          </a:xfrm>
          <a:prstGeom prst="roundRect">
            <a:avLst>
              <a:gd name="adj" fmla="val 3906"/>
            </a:avLst>
          </a:prstGeom>
          <a:solidFill>
            <a:srgbClr val="F5F7FC"/>
          </a:solidFill>
          <a:ln w="12700">
            <a:solidFill>
              <a:srgbClr val="E3E7F0"/>
            </a:solidFill>
            <a:prstDash val="solid"/>
          </a:ln>
        </p:spPr>
      </p:sp>
      <p:sp>
        <p:nvSpPr>
          <p:cNvPr id="11" name="Text 8"/>
          <p:cNvSpPr/>
          <p:nvPr/>
        </p:nvSpPr>
        <p:spPr>
          <a:xfrm>
            <a:off x="7479792" y="4142232"/>
            <a:ext cx="36941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Task_ML</a:t>
            </a:r>
            <a:endParaRPr lang="en-US" sz="1500" dirty="0"/>
          </a:p>
        </p:txBody>
      </p:sp>
      <p:sp>
        <p:nvSpPr>
          <p:cNvPr id="12" name="Text 9"/>
          <p:cNvSpPr/>
          <p:nvPr/>
        </p:nvSpPr>
        <p:spPr>
          <a:xfrm>
            <a:off x="7479792" y="4471416"/>
            <a:ext cx="3694176" cy="1122883"/>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105 ms di calcolo</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su 496 ms di periodo</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 21% del processore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SCHEDULABILITÀ</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Il criterio di Rate Monotonic non basta</a:t>
            </a:r>
            <a:endParaRPr lang="en-US" sz="3200" dirty="0"/>
          </a:p>
        </p:txBody>
      </p:sp>
      <p:sp>
        <p:nvSpPr>
          <p:cNvPr id="6" name="Shape 4"/>
          <p:cNvSpPr/>
          <p:nvPr/>
        </p:nvSpPr>
        <p:spPr>
          <a:xfrm>
            <a:off x="822960" y="1658722"/>
            <a:ext cx="5120640" cy="2691994"/>
          </a:xfrm>
          <a:prstGeom prst="roundRect">
            <a:avLst>
              <a:gd name="adj" fmla="val 2717"/>
            </a:avLst>
          </a:prstGeom>
          <a:solidFill>
            <a:srgbClr val="FBECEC"/>
          </a:solidFill>
          <a:ln w="12700">
            <a:solidFill>
              <a:srgbClr val="E3E7F0"/>
            </a:solidFill>
            <a:prstDash val="solid"/>
          </a:ln>
        </p:spPr>
      </p:sp>
      <p:sp>
        <p:nvSpPr>
          <p:cNvPr id="7" name="Text 5"/>
          <p:cNvSpPr/>
          <p:nvPr/>
        </p:nvSpPr>
        <p:spPr>
          <a:xfrm>
            <a:off x="1051560" y="1892808"/>
            <a:ext cx="4663440" cy="35113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Limite di Liu e Layland</a:t>
            </a:r>
            <a:endParaRPr lang="en-US" sz="1400" dirty="0"/>
          </a:p>
        </p:txBody>
      </p:sp>
      <p:sp>
        <p:nvSpPr>
          <p:cNvPr id="8" name="Text 6"/>
          <p:cNvSpPr/>
          <p:nvPr/>
        </p:nvSpPr>
        <p:spPr>
          <a:xfrm>
            <a:off x="1051560" y="2240280"/>
            <a:ext cx="4663440" cy="411480"/>
          </a:xfrm>
          <a:prstGeom prst="rect">
            <a:avLst/>
          </a:prstGeom>
          <a:noFill/>
          <a:ln/>
        </p:spPr>
        <p:txBody>
          <a:bodyPr wrap="square" lIns="0" tIns="0" rIns="0" bIns="0" rtlCol="0" anchor="ctr"/>
          <a:lstStyle/>
          <a:p>
            <a:pPr indent="0" marL="0">
              <a:buNone/>
            </a:pPr>
            <a:r>
              <a:rPr lang="en-US" sz="1800" dirty="0">
                <a:solidFill>
                  <a:srgbClr val="1E2761"/>
                </a:solidFill>
                <a:latin typeface="Courier New" pitchFamily="34" charset="0"/>
                <a:ea typeface="Courier New" pitchFamily="34" charset="-122"/>
                <a:cs typeface="Courier New" pitchFamily="34" charset="-120"/>
              </a:rPr>
              <a:t>U ≤ n (2^(1/n) − 1)</a:t>
            </a:r>
            <a:endParaRPr lang="en-US" sz="1800" dirty="0"/>
          </a:p>
        </p:txBody>
      </p:sp>
      <p:sp>
        <p:nvSpPr>
          <p:cNvPr id="9" name="Text 7"/>
          <p:cNvSpPr/>
          <p:nvPr/>
        </p:nvSpPr>
        <p:spPr>
          <a:xfrm>
            <a:off x="1051560" y="3063240"/>
            <a:ext cx="4663440" cy="409651"/>
          </a:xfrm>
          <a:prstGeom prst="rect">
            <a:avLst/>
          </a:prstGeom>
          <a:noFill/>
          <a:ln/>
        </p:spPr>
        <p:txBody>
          <a:bodyPr wrap="square" lIns="0" tIns="0" rIns="0" bIns="0" rtlCol="0" anchor="ctr"/>
          <a:lstStyle/>
          <a:p>
            <a:pPr indent="0" marL="0">
              <a:buNone/>
            </a:pPr>
            <a:r>
              <a:rPr lang="en-US" sz="1600" dirty="0">
                <a:solidFill>
                  <a:srgbClr val="1E2761"/>
                </a:solidFill>
                <a:latin typeface="Courier New" pitchFamily="34" charset="0"/>
                <a:ea typeface="Courier New" pitchFamily="34" charset="-122"/>
                <a:cs typeface="Courier New" pitchFamily="34" charset="-120"/>
              </a:rPr>
              <a:t>con n = 3 →  U ≤ 0,779</a:t>
            </a:r>
            <a:endParaRPr lang="en-US" sz="1600" dirty="0"/>
          </a:p>
        </p:txBody>
      </p:sp>
      <p:sp>
        <p:nvSpPr>
          <p:cNvPr id="10" name="Text 8"/>
          <p:cNvSpPr/>
          <p:nvPr/>
        </p:nvSpPr>
        <p:spPr>
          <a:xfrm>
            <a:off x="1051560" y="3648456"/>
            <a:ext cx="4663440" cy="468173"/>
          </a:xfrm>
          <a:prstGeom prst="rect">
            <a:avLst/>
          </a:prstGeom>
          <a:noFill/>
          <a:ln/>
        </p:spPr>
        <p:txBody>
          <a:bodyPr wrap="square" lIns="0" tIns="0" rIns="0" bIns="0" rtlCol="0" anchor="ctr"/>
          <a:lstStyle/>
          <a:p>
            <a:pPr indent="0" marL="0">
              <a:buNone/>
            </a:pPr>
            <a:r>
              <a:rPr lang="en-US" sz="1300" b="1" dirty="0">
                <a:solidFill>
                  <a:srgbClr val="A33A3A"/>
                </a:solidFill>
                <a:latin typeface="Calibri" pitchFamily="34" charset="0"/>
                <a:ea typeface="Calibri" pitchFamily="34" charset="-122"/>
                <a:cs typeface="Calibri" pitchFamily="34" charset="-120"/>
              </a:rPr>
              <a:t>Il sistema è a 0,86: la condizione NON è soddisfatta.</a:t>
            </a:r>
            <a:endParaRPr lang="en-US" sz="1300" dirty="0"/>
          </a:p>
        </p:txBody>
      </p:sp>
      <p:sp>
        <p:nvSpPr>
          <p:cNvPr id="11" name="Shape 9"/>
          <p:cNvSpPr/>
          <p:nvPr/>
        </p:nvSpPr>
        <p:spPr>
          <a:xfrm>
            <a:off x="6309360" y="1658722"/>
            <a:ext cx="5120640" cy="2691994"/>
          </a:xfrm>
          <a:prstGeom prst="roundRect">
            <a:avLst>
              <a:gd name="adj" fmla="val 2717"/>
            </a:avLst>
          </a:prstGeom>
          <a:solidFill>
            <a:srgbClr val="EAF7F2"/>
          </a:solidFill>
          <a:ln w="12700">
            <a:solidFill>
              <a:srgbClr val="E3E7F0"/>
            </a:solidFill>
            <a:prstDash val="solid"/>
          </a:ln>
        </p:spPr>
      </p:sp>
      <p:sp>
        <p:nvSpPr>
          <p:cNvPr id="12" name="Text 10"/>
          <p:cNvSpPr/>
          <p:nvPr/>
        </p:nvSpPr>
        <p:spPr>
          <a:xfrm>
            <a:off x="6565392" y="1859890"/>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Ma è solo sufficiente</a:t>
            </a:r>
            <a:endParaRPr lang="en-US" sz="1500" dirty="0"/>
          </a:p>
        </p:txBody>
      </p:sp>
      <p:sp>
        <p:nvSpPr>
          <p:cNvPr id="13" name="Text 11"/>
          <p:cNvSpPr/>
          <p:nvPr/>
        </p:nvSpPr>
        <p:spPr>
          <a:xfrm>
            <a:off x="6565392" y="2189074"/>
            <a:ext cx="4608576" cy="194218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Il criterio garantisce la schedulabilità se soddisfatto, non la esclude se violato. Superarlo obbliga all'analisi esatta dei tempi di risposta, non a riprogettare.</a:t>
            </a:r>
            <a:endParaRPr lang="en-US" sz="1300" dirty="0"/>
          </a:p>
        </p:txBody>
      </p:sp>
      <p:sp>
        <p:nvSpPr>
          <p:cNvPr id="14" name="Text 12"/>
          <p:cNvSpPr/>
          <p:nvPr/>
        </p:nvSpPr>
        <p:spPr>
          <a:xfrm>
            <a:off x="822960" y="4818888"/>
            <a:ext cx="10607040" cy="585216"/>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Il caso peggiore va calcolato, non stimato.</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SCHEDULABILITÀ</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Analisi esatta del tempo di risposta</a:t>
            </a:r>
            <a:endParaRPr lang="en-US" sz="3200" dirty="0"/>
          </a:p>
        </p:txBody>
      </p:sp>
      <p:sp>
        <p:nvSpPr>
          <p:cNvPr id="6" name="Shape 4"/>
          <p:cNvSpPr/>
          <p:nvPr/>
        </p:nvSpPr>
        <p:spPr>
          <a:xfrm>
            <a:off x="822960" y="1600200"/>
            <a:ext cx="10607040" cy="1111910"/>
          </a:xfrm>
          <a:prstGeom prst="roundRect">
            <a:avLst>
              <a:gd name="adj" fmla="val 6579"/>
            </a:avLst>
          </a:prstGeom>
          <a:solidFill>
            <a:srgbClr val="1E2761"/>
          </a:solidFill>
          <a:ln/>
        </p:spPr>
      </p:sp>
      <p:sp>
        <p:nvSpPr>
          <p:cNvPr id="7" name="Text 5"/>
          <p:cNvSpPr/>
          <p:nvPr/>
        </p:nvSpPr>
        <p:spPr>
          <a:xfrm>
            <a:off x="1097280" y="1834286"/>
            <a:ext cx="10058400" cy="643738"/>
          </a:xfrm>
          <a:prstGeom prst="rect">
            <a:avLst/>
          </a:prstGeom>
          <a:noFill/>
          <a:ln/>
        </p:spPr>
        <p:txBody>
          <a:bodyPr wrap="square" lIns="0" tIns="0" rIns="0" bIns="0" rtlCol="0" anchor="ctr"/>
          <a:lstStyle/>
          <a:p>
            <a:pPr indent="0" marL="0">
              <a:buNone/>
            </a:pPr>
            <a:r>
              <a:rPr lang="en-US" sz="1700" dirty="0">
                <a:solidFill>
                  <a:srgbClr val="FFFFFF"/>
                </a:solidFill>
                <a:latin typeface="Courier New" pitchFamily="34" charset="0"/>
                <a:ea typeface="Courier New" pitchFamily="34" charset="-122"/>
                <a:cs typeface="Courier New" pitchFamily="34" charset="-120"/>
              </a:rPr>
              <a:t>R = C + Σ ⌈R / T_j⌉ · C_j        con j sui task a priorità maggiore</a:t>
            </a:r>
            <a:endParaRPr lang="en-US" sz="1700" dirty="0"/>
          </a:p>
        </p:txBody>
      </p:sp>
      <p:sp>
        <p:nvSpPr>
          <p:cNvPr id="8" name="Text 6"/>
          <p:cNvSpPr/>
          <p:nvPr/>
        </p:nvSpPr>
        <p:spPr>
          <a:xfrm>
            <a:off x="822960" y="3063240"/>
            <a:ext cx="5669280" cy="468173"/>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Task_ML:   R = 105 + ⌈R / 32⌉ · 20,8</a:t>
            </a:r>
            <a:endParaRPr lang="en-US" sz="1500" dirty="0"/>
          </a:p>
        </p:txBody>
      </p:sp>
      <p:sp>
        <p:nvSpPr>
          <p:cNvPr id="9" name="Text 7"/>
          <p:cNvSpPr/>
          <p:nvPr/>
        </p:nvSpPr>
        <p:spPr>
          <a:xfrm>
            <a:off x="1005840" y="3648456"/>
            <a:ext cx="5120640" cy="351130"/>
          </a:xfrm>
          <a:prstGeom prst="rect">
            <a:avLst/>
          </a:prstGeom>
          <a:noFill/>
          <a:ln/>
        </p:spPr>
        <p:txBody>
          <a:bodyPr wrap="square" lIns="0" tIns="0" rIns="0" bIns="0" rtlCol="0" anchor="ctr"/>
          <a:lstStyle/>
          <a:p>
            <a:pPr indent="0" marL="0">
              <a:buNone/>
            </a:pPr>
            <a:r>
              <a:rPr lang="en-US" sz="1300" dirty="0">
                <a:solidFill>
                  <a:srgbClr val="5A6272"/>
                </a:solidFill>
                <a:latin typeface="Courier New" pitchFamily="34" charset="0"/>
                <a:ea typeface="Courier New" pitchFamily="34" charset="-122"/>
                <a:cs typeface="Courier New" pitchFamily="34" charset="-120"/>
              </a:rPr>
              <a:t>R₀ = 105</a:t>
            </a:r>
            <a:endParaRPr lang="en-US" sz="1300" dirty="0"/>
          </a:p>
        </p:txBody>
      </p:sp>
      <p:sp>
        <p:nvSpPr>
          <p:cNvPr id="10" name="Text 8"/>
          <p:cNvSpPr/>
          <p:nvPr/>
        </p:nvSpPr>
        <p:spPr>
          <a:xfrm>
            <a:off x="1005840" y="3922776"/>
            <a:ext cx="5120640" cy="351130"/>
          </a:xfrm>
          <a:prstGeom prst="rect">
            <a:avLst/>
          </a:prstGeom>
          <a:noFill/>
          <a:ln/>
        </p:spPr>
        <p:txBody>
          <a:bodyPr wrap="square" lIns="0" tIns="0" rIns="0" bIns="0" rtlCol="0" anchor="ctr"/>
          <a:lstStyle/>
          <a:p>
            <a:pPr indent="0" marL="0">
              <a:buNone/>
            </a:pPr>
            <a:r>
              <a:rPr lang="en-US" sz="1300" dirty="0">
                <a:solidFill>
                  <a:srgbClr val="5A6272"/>
                </a:solidFill>
                <a:latin typeface="Courier New" pitchFamily="34" charset="0"/>
                <a:ea typeface="Courier New" pitchFamily="34" charset="-122"/>
                <a:cs typeface="Courier New" pitchFamily="34" charset="-120"/>
              </a:rPr>
              <a:t>R₁ = 188,2</a:t>
            </a:r>
            <a:endParaRPr lang="en-US" sz="1300" dirty="0"/>
          </a:p>
        </p:txBody>
      </p:sp>
      <p:sp>
        <p:nvSpPr>
          <p:cNvPr id="11" name="Text 9"/>
          <p:cNvSpPr/>
          <p:nvPr/>
        </p:nvSpPr>
        <p:spPr>
          <a:xfrm>
            <a:off x="1005840" y="4197096"/>
            <a:ext cx="5120640" cy="351130"/>
          </a:xfrm>
          <a:prstGeom prst="rect">
            <a:avLst/>
          </a:prstGeom>
          <a:noFill/>
          <a:ln/>
        </p:spPr>
        <p:txBody>
          <a:bodyPr wrap="square" lIns="0" tIns="0" rIns="0" bIns="0" rtlCol="0" anchor="ctr"/>
          <a:lstStyle/>
          <a:p>
            <a:pPr indent="0" marL="0">
              <a:buNone/>
            </a:pPr>
            <a:r>
              <a:rPr lang="en-US" sz="1300" dirty="0">
                <a:solidFill>
                  <a:srgbClr val="5A6272"/>
                </a:solidFill>
                <a:latin typeface="Courier New" pitchFamily="34" charset="0"/>
                <a:ea typeface="Courier New" pitchFamily="34" charset="-122"/>
                <a:cs typeface="Courier New" pitchFamily="34" charset="-120"/>
              </a:rPr>
              <a:t>R₂ = 229,8</a:t>
            </a:r>
            <a:endParaRPr lang="en-US" sz="1300" dirty="0"/>
          </a:p>
        </p:txBody>
      </p:sp>
      <p:sp>
        <p:nvSpPr>
          <p:cNvPr id="12" name="Text 10"/>
          <p:cNvSpPr/>
          <p:nvPr/>
        </p:nvSpPr>
        <p:spPr>
          <a:xfrm>
            <a:off x="1005840" y="4471416"/>
            <a:ext cx="5120640" cy="351130"/>
          </a:xfrm>
          <a:prstGeom prst="rect">
            <a:avLst/>
          </a:prstGeom>
          <a:noFill/>
          <a:ln/>
        </p:spPr>
        <p:txBody>
          <a:bodyPr wrap="square" lIns="0" tIns="0" rIns="0" bIns="0" rtlCol="0" anchor="ctr"/>
          <a:lstStyle/>
          <a:p>
            <a:pPr indent="0" marL="0">
              <a:buNone/>
            </a:pPr>
            <a:r>
              <a:rPr lang="en-US" sz="1300" dirty="0">
                <a:solidFill>
                  <a:srgbClr val="5A6272"/>
                </a:solidFill>
                <a:latin typeface="Courier New" pitchFamily="34" charset="0"/>
                <a:ea typeface="Courier New" pitchFamily="34" charset="-122"/>
                <a:cs typeface="Courier New" pitchFamily="34" charset="-120"/>
              </a:rPr>
              <a:t>R₃ = 271,4</a:t>
            </a:r>
            <a:endParaRPr lang="en-US" sz="1300" dirty="0"/>
          </a:p>
        </p:txBody>
      </p:sp>
      <p:sp>
        <p:nvSpPr>
          <p:cNvPr id="13" name="Text 11"/>
          <p:cNvSpPr/>
          <p:nvPr/>
        </p:nvSpPr>
        <p:spPr>
          <a:xfrm>
            <a:off x="1005840" y="4745736"/>
            <a:ext cx="5120640" cy="351130"/>
          </a:xfrm>
          <a:prstGeom prst="rect">
            <a:avLst/>
          </a:prstGeom>
          <a:noFill/>
          <a:ln/>
        </p:spPr>
        <p:txBody>
          <a:bodyPr wrap="square" lIns="0" tIns="0" rIns="0" bIns="0" rtlCol="0" anchor="ctr"/>
          <a:lstStyle/>
          <a:p>
            <a:pPr indent="0" marL="0">
              <a:buNone/>
            </a:pPr>
            <a:r>
              <a:rPr lang="en-US" sz="1300" dirty="0">
                <a:solidFill>
                  <a:srgbClr val="5A6272"/>
                </a:solidFill>
                <a:latin typeface="Courier New" pitchFamily="34" charset="0"/>
                <a:ea typeface="Courier New" pitchFamily="34" charset="-122"/>
                <a:cs typeface="Courier New" pitchFamily="34" charset="-120"/>
              </a:rPr>
              <a:t>R₄ = 292,2</a:t>
            </a:r>
            <a:endParaRPr lang="en-US" sz="1300" dirty="0"/>
          </a:p>
        </p:txBody>
      </p:sp>
      <p:sp>
        <p:nvSpPr>
          <p:cNvPr id="14" name="Text 12"/>
          <p:cNvSpPr/>
          <p:nvPr/>
        </p:nvSpPr>
        <p:spPr>
          <a:xfrm>
            <a:off x="1005840" y="5020056"/>
            <a:ext cx="5120640" cy="351130"/>
          </a:xfrm>
          <a:prstGeom prst="rect">
            <a:avLst/>
          </a:prstGeom>
          <a:noFill/>
          <a:ln/>
        </p:spPr>
        <p:txBody>
          <a:bodyPr wrap="square" lIns="0" tIns="0" rIns="0" bIns="0" rtlCol="0" anchor="ctr"/>
          <a:lstStyle/>
          <a:p>
            <a:pPr indent="0" marL="0">
              <a:buNone/>
            </a:pPr>
            <a:r>
              <a:rPr lang="en-US" sz="1300" b="1" dirty="0">
                <a:solidFill>
                  <a:srgbClr val="02C39A"/>
                </a:solidFill>
                <a:latin typeface="Courier New" pitchFamily="34" charset="0"/>
                <a:ea typeface="Courier New" pitchFamily="34" charset="-122"/>
                <a:cs typeface="Courier New" pitchFamily="34" charset="-120"/>
              </a:rPr>
              <a:t>R₅ = 313,0</a:t>
            </a:r>
            <a:endParaRPr lang="en-US" sz="1300" dirty="0"/>
          </a:p>
        </p:txBody>
      </p:sp>
      <p:sp>
        <p:nvSpPr>
          <p:cNvPr id="15" name="Text 13"/>
          <p:cNvSpPr/>
          <p:nvPr/>
        </p:nvSpPr>
        <p:spPr>
          <a:xfrm>
            <a:off x="1005840" y="5294376"/>
            <a:ext cx="5120640" cy="351130"/>
          </a:xfrm>
          <a:prstGeom prst="rect">
            <a:avLst/>
          </a:prstGeom>
          <a:noFill/>
          <a:ln/>
        </p:spPr>
        <p:txBody>
          <a:bodyPr wrap="square" lIns="0" tIns="0" rIns="0" bIns="0" rtlCol="0" anchor="ctr"/>
          <a:lstStyle/>
          <a:p>
            <a:pPr indent="0" marL="0">
              <a:buNone/>
            </a:pPr>
            <a:r>
              <a:rPr lang="en-US" sz="1300" b="1" dirty="0">
                <a:solidFill>
                  <a:srgbClr val="02C39A"/>
                </a:solidFill>
                <a:latin typeface="Courier New" pitchFamily="34" charset="0"/>
                <a:ea typeface="Courier New" pitchFamily="34" charset="-122"/>
                <a:cs typeface="Courier New" pitchFamily="34" charset="-120"/>
              </a:rPr>
              <a:t>R₆ = 313,0  ← punto fisso</a:t>
            </a:r>
            <a:endParaRPr lang="en-US" sz="1300" dirty="0"/>
          </a:p>
        </p:txBody>
      </p:sp>
      <p:sp>
        <p:nvSpPr>
          <p:cNvPr id="16" name="Shape 14"/>
          <p:cNvSpPr/>
          <p:nvPr/>
        </p:nvSpPr>
        <p:spPr>
          <a:xfrm>
            <a:off x="6766560" y="3063240"/>
            <a:ext cx="4663440" cy="3043123"/>
          </a:xfrm>
          <a:prstGeom prst="roundRect">
            <a:avLst>
              <a:gd name="adj" fmla="val 2404"/>
            </a:avLst>
          </a:prstGeom>
          <a:solidFill>
            <a:srgbClr val="EAF7F2"/>
          </a:solidFill>
          <a:ln w="19050">
            <a:solidFill>
              <a:srgbClr val="02C39A"/>
            </a:solidFill>
            <a:prstDash val="solid"/>
          </a:ln>
        </p:spPr>
      </p:sp>
      <p:sp>
        <p:nvSpPr>
          <p:cNvPr id="17" name="Text 15"/>
          <p:cNvSpPr/>
          <p:nvPr/>
        </p:nvSpPr>
        <p:spPr>
          <a:xfrm>
            <a:off x="6766560" y="3472891"/>
            <a:ext cx="4663440" cy="936346"/>
          </a:xfrm>
          <a:prstGeom prst="rect">
            <a:avLst/>
          </a:prstGeom>
          <a:noFill/>
          <a:ln/>
        </p:spPr>
        <p:txBody>
          <a:bodyPr wrap="square" lIns="0" tIns="0" rIns="0" bIns="0" rtlCol="0" anchor="ctr"/>
          <a:lstStyle/>
          <a:p>
            <a:pPr algn="ctr" indent="0" marL="0">
              <a:buNone/>
            </a:pPr>
            <a:r>
              <a:rPr lang="en-US" sz="4200" b="1" dirty="0">
                <a:solidFill>
                  <a:srgbClr val="1E2761"/>
                </a:solidFill>
                <a:latin typeface="Cambria" pitchFamily="34" charset="0"/>
                <a:ea typeface="Cambria" pitchFamily="34" charset="-122"/>
                <a:cs typeface="Cambria" pitchFamily="34" charset="-120"/>
              </a:rPr>
              <a:t>313 ms</a:t>
            </a:r>
            <a:endParaRPr lang="en-US" sz="4200" dirty="0"/>
          </a:p>
        </p:txBody>
      </p:sp>
      <p:sp>
        <p:nvSpPr>
          <p:cNvPr id="18" name="Text 16"/>
          <p:cNvSpPr/>
          <p:nvPr/>
        </p:nvSpPr>
        <p:spPr>
          <a:xfrm>
            <a:off x="6766560" y="4409237"/>
            <a:ext cx="4663440" cy="35113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tempo di risposta nel caso peggiore</a:t>
            </a:r>
            <a:endParaRPr lang="en-US" sz="1200" dirty="0"/>
          </a:p>
        </p:txBody>
      </p:sp>
      <p:sp>
        <p:nvSpPr>
          <p:cNvPr id="19" name="Text 17"/>
          <p:cNvSpPr/>
          <p:nvPr/>
        </p:nvSpPr>
        <p:spPr>
          <a:xfrm>
            <a:off x="6995160" y="4935931"/>
            <a:ext cx="4206240" cy="936346"/>
          </a:xfrm>
          <a:prstGeom prst="rect">
            <a:avLst/>
          </a:prstGeom>
          <a:noFill/>
          <a:ln/>
        </p:spPr>
        <p:txBody>
          <a:bodyPr wrap="square" lIns="0" tIns="0" rIns="0" bIns="0" rtlCol="0" anchor="ctr"/>
          <a:lstStyle/>
          <a:p>
            <a:pPr algn="ctr" indent="0" marL="0">
              <a:lnSpc>
                <a:spcPts val="1900"/>
              </a:lnSpc>
              <a:buNone/>
            </a:pPr>
            <a:r>
              <a:rPr lang="en-US" sz="1300" b="1" dirty="0">
                <a:solidFill>
                  <a:srgbClr val="1E2761"/>
                </a:solidFill>
                <a:latin typeface="Calibri" pitchFamily="34" charset="0"/>
                <a:ea typeface="Calibri" pitchFamily="34" charset="-122"/>
                <a:cs typeface="Calibri" pitchFamily="34" charset="-120"/>
              </a:rPr>
              <a:t>contro una scadenza di 496 ms</a:t>
            </a:r>
            <a:endParaRPr lang="en-US" sz="1300" dirty="0"/>
          </a:p>
          <a:p>
            <a:pPr algn="ctr" indent="0" marL="0">
              <a:lnSpc>
                <a:spcPts val="1900"/>
              </a:lnSpc>
              <a:buNone/>
            </a:pPr>
            <a:r>
              <a:rPr lang="en-US" sz="1300" b="1" dirty="0">
                <a:solidFill>
                  <a:srgbClr val="1E2761"/>
                </a:solidFill>
                <a:latin typeface="Calibri" pitchFamily="34" charset="0"/>
                <a:ea typeface="Calibri" pitchFamily="34" charset="-122"/>
                <a:cs typeface="Calibri" pitchFamily="34" charset="-120"/>
              </a:rPr>
              <a:t>→ sistema schedulabile, 37% di margine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ROBUSTEZZA</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Sotto sovraccarico si scarta, non si accumula</a:t>
            </a:r>
            <a:endParaRPr lang="en-US" sz="3200" dirty="0"/>
          </a:p>
        </p:txBody>
      </p:sp>
      <p:sp>
        <p:nvSpPr>
          <p:cNvPr id="6" name="Shape 4"/>
          <p:cNvSpPr/>
          <p:nvPr/>
        </p:nvSpPr>
        <p:spPr>
          <a:xfrm>
            <a:off x="822960" y="1658722"/>
            <a:ext cx="3383280" cy="2457907"/>
          </a:xfrm>
          <a:prstGeom prst="roundRect">
            <a:avLst>
              <a:gd name="adj" fmla="val 2976"/>
            </a:avLst>
          </a:prstGeom>
          <a:solidFill>
            <a:srgbClr val="FBECEC"/>
          </a:solidFill>
          <a:ln w="12700">
            <a:solidFill>
              <a:srgbClr val="E3E7F0"/>
            </a:solidFill>
            <a:prstDash val="solid"/>
          </a:ln>
        </p:spPr>
      </p:sp>
      <p:sp>
        <p:nvSpPr>
          <p:cNvPr id="7" name="Text 5"/>
          <p:cNvSpPr/>
          <p:nvPr/>
        </p:nvSpPr>
        <p:spPr>
          <a:xfrm>
            <a:off x="1078992" y="1859890"/>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Il problema</a:t>
            </a:r>
            <a:endParaRPr lang="en-US" sz="1500" dirty="0"/>
          </a:p>
        </p:txBody>
      </p:sp>
      <p:sp>
        <p:nvSpPr>
          <p:cNvPr id="8" name="Text 6"/>
          <p:cNvSpPr/>
          <p:nvPr/>
        </p:nvSpPr>
        <p:spPr>
          <a:xfrm>
            <a:off x="1078992" y="2189074"/>
            <a:ext cx="2871216" cy="1708099"/>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Una clip di prova dura 2 s e occupa il canale seriale per secondi. Eventi ravvicinati la richiederebbero più volte.</a:t>
            </a:r>
            <a:endParaRPr lang="en-US" sz="1300" dirty="0"/>
          </a:p>
        </p:txBody>
      </p:sp>
      <p:sp>
        <p:nvSpPr>
          <p:cNvPr id="9" name="Shape 7"/>
          <p:cNvSpPr/>
          <p:nvPr/>
        </p:nvSpPr>
        <p:spPr>
          <a:xfrm>
            <a:off x="4434840" y="1658722"/>
            <a:ext cx="3383280" cy="2457907"/>
          </a:xfrm>
          <a:prstGeom prst="roundRect">
            <a:avLst>
              <a:gd name="adj" fmla="val 2976"/>
            </a:avLst>
          </a:prstGeom>
          <a:solidFill>
            <a:srgbClr val="EAF7F2"/>
          </a:solidFill>
          <a:ln w="12700">
            <a:solidFill>
              <a:srgbClr val="E3E7F0"/>
            </a:solidFill>
            <a:prstDash val="solid"/>
          </a:ln>
        </p:spPr>
      </p:sp>
      <p:sp>
        <p:nvSpPr>
          <p:cNvPr id="10" name="Text 8"/>
          <p:cNvSpPr/>
          <p:nvPr/>
        </p:nvSpPr>
        <p:spPr>
          <a:xfrm>
            <a:off x="4690872" y="1859890"/>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La scelta</a:t>
            </a:r>
            <a:endParaRPr lang="en-US" sz="1500" dirty="0"/>
          </a:p>
        </p:txBody>
      </p:sp>
      <p:sp>
        <p:nvSpPr>
          <p:cNvPr id="11" name="Text 9"/>
          <p:cNvSpPr/>
          <p:nvPr/>
        </p:nvSpPr>
        <p:spPr>
          <a:xfrm>
            <a:off x="4690872" y="2189074"/>
            <a:ext cx="2871216" cy="1708099"/>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Tempo morto di 10 s e buffer congelato. Le richieste in eccesso vengono rifiutate, non messe in coda.</a:t>
            </a:r>
            <a:endParaRPr lang="en-US" sz="1300" dirty="0"/>
          </a:p>
        </p:txBody>
      </p:sp>
      <p:sp>
        <p:nvSpPr>
          <p:cNvPr id="12" name="Shape 10"/>
          <p:cNvSpPr/>
          <p:nvPr/>
        </p:nvSpPr>
        <p:spPr>
          <a:xfrm>
            <a:off x="8046720" y="1658722"/>
            <a:ext cx="3383280" cy="2457907"/>
          </a:xfrm>
          <a:prstGeom prst="roundRect">
            <a:avLst>
              <a:gd name="adj" fmla="val 2976"/>
            </a:avLst>
          </a:prstGeom>
          <a:solidFill>
            <a:srgbClr val="F5F7FC"/>
          </a:solidFill>
          <a:ln w="12700">
            <a:solidFill>
              <a:srgbClr val="E3E7F0"/>
            </a:solidFill>
            <a:prstDash val="solid"/>
          </a:ln>
        </p:spPr>
      </p:sp>
      <p:sp>
        <p:nvSpPr>
          <p:cNvPr id="13" name="Text 11"/>
          <p:cNvSpPr/>
          <p:nvPr/>
        </p:nvSpPr>
        <p:spPr>
          <a:xfrm>
            <a:off x="8302752" y="1859890"/>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Il motivo</a:t>
            </a:r>
            <a:endParaRPr lang="en-US" sz="1500" dirty="0"/>
          </a:p>
        </p:txBody>
      </p:sp>
      <p:sp>
        <p:nvSpPr>
          <p:cNvPr id="14" name="Text 12"/>
          <p:cNvSpPr/>
          <p:nvPr/>
        </p:nvSpPr>
        <p:spPr>
          <a:xfrm>
            <a:off x="8302752" y="2189074"/>
            <a:ext cx="2871216" cy="1708099"/>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Accodare significherebbe riversare, fra un minuto, un evento vecchio di un minuto. Un dato tardivo è peggio di un dato assente.</a:t>
            </a:r>
            <a:endParaRPr lang="en-US" sz="1300" dirty="0"/>
          </a:p>
        </p:txBody>
      </p:sp>
      <p:sp>
        <p:nvSpPr>
          <p:cNvPr id="15" name="Shape 13"/>
          <p:cNvSpPr/>
          <p:nvPr/>
        </p:nvSpPr>
        <p:spPr>
          <a:xfrm>
            <a:off x="822960" y="4467758"/>
            <a:ext cx="10607040" cy="1404518"/>
          </a:xfrm>
          <a:prstGeom prst="roundRect">
            <a:avLst>
              <a:gd name="adj" fmla="val 5208"/>
            </a:avLst>
          </a:prstGeom>
          <a:solidFill>
            <a:srgbClr val="1E2761"/>
          </a:solidFill>
          <a:ln/>
        </p:spPr>
      </p:sp>
      <p:sp>
        <p:nvSpPr>
          <p:cNvPr id="16" name="Text 14"/>
          <p:cNvSpPr/>
          <p:nvPr/>
        </p:nvSpPr>
        <p:spPr>
          <a:xfrm>
            <a:off x="1143000" y="4760366"/>
            <a:ext cx="9966960" cy="877824"/>
          </a:xfrm>
          <a:prstGeom prst="rect">
            <a:avLst/>
          </a:prstGeom>
          <a:noFill/>
          <a:ln/>
        </p:spPr>
        <p:txBody>
          <a:bodyPr wrap="square" lIns="0" tIns="0" rIns="0" bIns="0" rtlCol="0" anchor="ctr"/>
          <a:lstStyle/>
          <a:p>
            <a:pPr indent="0" marL="0">
              <a:lnSpc>
                <a:spcPts val="2100"/>
              </a:lnSpc>
              <a:buNone/>
            </a:pPr>
            <a:r>
              <a:rPr lang="en-US" sz="1500" dirty="0">
                <a:solidFill>
                  <a:srgbClr val="FFFFFF"/>
                </a:solidFill>
                <a:latin typeface="Calibri" pitchFamily="34" charset="0"/>
                <a:ea typeface="Calibri" pitchFamily="34" charset="-122"/>
                <a:cs typeface="Calibri" pitchFamily="34" charset="-120"/>
              </a:rPr>
              <a:t>Nessuna politica di scheduling risolve un sovraccarico: per definizione non c'è modo di eseguire più lavoro di quanto ne stia nel tempo disponibile.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UNA SCELTA MOTIVATA</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Perché non EDF</a:t>
            </a:r>
            <a:endParaRPr lang="en-US" sz="3200" dirty="0"/>
          </a:p>
        </p:txBody>
      </p:sp>
      <p:sp>
        <p:nvSpPr>
          <p:cNvPr id="6" name="Shape 4"/>
          <p:cNvSpPr/>
          <p:nvPr/>
        </p:nvSpPr>
        <p:spPr>
          <a:xfrm>
            <a:off x="822960" y="1658722"/>
            <a:ext cx="5120640" cy="1872691"/>
          </a:xfrm>
          <a:prstGeom prst="roundRect">
            <a:avLst>
              <a:gd name="adj" fmla="val 3906"/>
            </a:avLst>
          </a:prstGeom>
          <a:solidFill>
            <a:srgbClr val="F5F7FC"/>
          </a:solidFill>
          <a:ln w="12700">
            <a:solidFill>
              <a:srgbClr val="E3E7F0"/>
            </a:solidFill>
            <a:prstDash val="solid"/>
          </a:ln>
        </p:spPr>
      </p:sp>
      <p:sp>
        <p:nvSpPr>
          <p:cNvPr id="7" name="Text 5"/>
          <p:cNvSpPr/>
          <p:nvPr/>
        </p:nvSpPr>
        <p:spPr>
          <a:xfrm>
            <a:off x="1078992" y="1859890"/>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Cosa offre EDF</a:t>
            </a:r>
            <a:endParaRPr lang="en-US" sz="1500" dirty="0"/>
          </a:p>
        </p:txBody>
      </p:sp>
      <p:sp>
        <p:nvSpPr>
          <p:cNvPr id="8" name="Text 6"/>
          <p:cNvSpPr/>
          <p:nvPr/>
        </p:nvSpPr>
        <p:spPr>
          <a:xfrm>
            <a:off x="1078992" y="2189074"/>
            <a:ext cx="4608576" cy="1122883"/>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Priorità dinamiche e limite di schedulabilità a utilizzo 1,0 invece di 0,779.</a:t>
            </a:r>
            <a:endParaRPr lang="en-US" sz="1300" dirty="0"/>
          </a:p>
        </p:txBody>
      </p:sp>
      <p:sp>
        <p:nvSpPr>
          <p:cNvPr id="9" name="Shape 7"/>
          <p:cNvSpPr/>
          <p:nvPr/>
        </p:nvSpPr>
        <p:spPr>
          <a:xfrm>
            <a:off x="6309360" y="1658722"/>
            <a:ext cx="5120640" cy="1872691"/>
          </a:xfrm>
          <a:prstGeom prst="roundRect">
            <a:avLst>
              <a:gd name="adj" fmla="val 3906"/>
            </a:avLst>
          </a:prstGeom>
          <a:solidFill>
            <a:srgbClr val="EAF7F2"/>
          </a:solidFill>
          <a:ln w="12700">
            <a:solidFill>
              <a:srgbClr val="E3E7F0"/>
            </a:solidFill>
            <a:prstDash val="solid"/>
          </a:ln>
        </p:spPr>
      </p:sp>
      <p:sp>
        <p:nvSpPr>
          <p:cNvPr id="10" name="Text 8"/>
          <p:cNvSpPr/>
          <p:nvPr/>
        </p:nvSpPr>
        <p:spPr>
          <a:xfrm>
            <a:off x="6565392" y="1859890"/>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Perché non serve qui</a:t>
            </a:r>
            <a:endParaRPr lang="en-US" sz="1500" dirty="0"/>
          </a:p>
        </p:txBody>
      </p:sp>
      <p:sp>
        <p:nvSpPr>
          <p:cNvPr id="11" name="Text 9"/>
          <p:cNvSpPr/>
          <p:nvPr/>
        </p:nvSpPr>
        <p:spPr>
          <a:xfrm>
            <a:off x="6565392" y="2189074"/>
            <a:ext cx="4608576" cy="1122883"/>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Il sistema è già schedulabile a priorità fisse, dimostrato dall'analisi esatta.</a:t>
            </a:r>
            <a:endParaRPr lang="en-US" sz="1300" dirty="0"/>
          </a:p>
        </p:txBody>
      </p:sp>
      <p:sp>
        <p:nvSpPr>
          <p:cNvPr id="12" name="Shape 10"/>
          <p:cNvSpPr/>
          <p:nvPr/>
        </p:nvSpPr>
        <p:spPr>
          <a:xfrm>
            <a:off x="822960" y="3765499"/>
            <a:ext cx="10607040" cy="2165299"/>
          </a:xfrm>
          <a:prstGeom prst="roundRect">
            <a:avLst>
              <a:gd name="adj" fmla="val 3378"/>
            </a:avLst>
          </a:prstGeom>
          <a:solidFill>
            <a:srgbClr val="F5F7FC"/>
          </a:solidFill>
          <a:ln w="12700">
            <a:solidFill>
              <a:srgbClr val="E3E7F0"/>
            </a:solidFill>
            <a:prstDash val="solid"/>
          </a:ln>
        </p:spPr>
      </p:sp>
      <p:sp>
        <p:nvSpPr>
          <p:cNvPr id="13" name="Text 11"/>
          <p:cNvSpPr/>
          <p:nvPr/>
        </p:nvSpPr>
        <p:spPr>
          <a:xfrm>
            <a:off x="1078992" y="3966667"/>
            <a:ext cx="100949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 le scadenze coincidono con le priorità già assegnate</a:t>
            </a:r>
            <a:endParaRPr lang="en-US" sz="1500" dirty="0"/>
          </a:p>
        </p:txBody>
      </p:sp>
      <p:sp>
        <p:nvSpPr>
          <p:cNvPr id="14" name="Text 12"/>
          <p:cNvSpPr/>
          <p:nvPr/>
        </p:nvSpPr>
        <p:spPr>
          <a:xfrm>
            <a:off x="1078992" y="4295851"/>
            <a:ext cx="10094976" cy="1415491"/>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L'audio in arrivo è effimero: la periferica lo sovrascrive in 32 ms. La clip in memoria è protetta e può attendere secondi. Ordinando i task per urgenza reale si ottiene 3, 2, 1 — cioè esattamente l'assegnazione Rate Monotonic già in uso. EDF confermerebbe la scelta, non la cambierebbe.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RICONOSCIMENTO</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La rete neurale, in breve</a:t>
            </a:r>
            <a:endParaRPr lang="en-US" sz="3200" dirty="0"/>
          </a:p>
        </p:txBody>
      </p:sp>
      <p:sp>
        <p:nvSpPr>
          <p:cNvPr id="6" name="Text 4"/>
          <p:cNvSpPr/>
          <p:nvPr/>
        </p:nvSpPr>
        <p:spPr>
          <a:xfrm>
            <a:off x="822960" y="1775765"/>
            <a:ext cx="246888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31 KB</a:t>
            </a:r>
            <a:endParaRPr lang="en-US" sz="4000" dirty="0"/>
          </a:p>
        </p:txBody>
      </p:sp>
      <p:sp>
        <p:nvSpPr>
          <p:cNvPr id="7" name="Text 5"/>
          <p:cNvSpPr/>
          <p:nvPr/>
        </p:nvSpPr>
        <p:spPr>
          <a:xfrm>
            <a:off x="822960" y="2488997"/>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modello</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quantizzato int8</a:t>
            </a:r>
            <a:endParaRPr lang="en-US" sz="1200" dirty="0"/>
          </a:p>
        </p:txBody>
      </p:sp>
      <p:sp>
        <p:nvSpPr>
          <p:cNvPr id="8" name="Text 6"/>
          <p:cNvSpPr/>
          <p:nvPr/>
        </p:nvSpPr>
        <p:spPr>
          <a:xfrm>
            <a:off x="3566160" y="1775765"/>
            <a:ext cx="246888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0,107 M</a:t>
            </a:r>
            <a:endParaRPr lang="en-US" sz="4000" dirty="0"/>
          </a:p>
        </p:txBody>
      </p:sp>
      <p:sp>
        <p:nvSpPr>
          <p:cNvPr id="9" name="Text 7"/>
          <p:cNvSpPr/>
          <p:nvPr/>
        </p:nvSpPr>
        <p:spPr>
          <a:xfrm>
            <a:off x="3566160" y="2488997"/>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moltiplicazioni</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per inferenza</a:t>
            </a:r>
            <a:endParaRPr lang="en-US" sz="1200" dirty="0"/>
          </a:p>
        </p:txBody>
      </p:sp>
      <p:sp>
        <p:nvSpPr>
          <p:cNvPr id="10" name="Text 8"/>
          <p:cNvSpPr/>
          <p:nvPr/>
        </p:nvSpPr>
        <p:spPr>
          <a:xfrm>
            <a:off x="6309360" y="1775765"/>
            <a:ext cx="2468880" cy="68580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88,9%</a:t>
            </a:r>
            <a:endParaRPr lang="en-US" sz="4000" dirty="0"/>
          </a:p>
        </p:txBody>
      </p:sp>
      <p:sp>
        <p:nvSpPr>
          <p:cNvPr id="11" name="Text 9"/>
          <p:cNvSpPr/>
          <p:nvPr/>
        </p:nvSpPr>
        <p:spPr>
          <a:xfrm>
            <a:off x="6309360" y="2488997"/>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accuratezza</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sul dataset</a:t>
            </a:r>
            <a:endParaRPr lang="en-US" sz="1200" dirty="0"/>
          </a:p>
        </p:txBody>
      </p:sp>
      <p:sp>
        <p:nvSpPr>
          <p:cNvPr id="12" name="Text 10"/>
          <p:cNvSpPr/>
          <p:nvPr/>
        </p:nvSpPr>
        <p:spPr>
          <a:xfrm>
            <a:off x="9052560" y="1775765"/>
            <a:ext cx="246888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8</a:t>
            </a:r>
            <a:endParaRPr lang="en-US" sz="4000" dirty="0"/>
          </a:p>
        </p:txBody>
      </p:sp>
      <p:sp>
        <p:nvSpPr>
          <p:cNvPr id="13" name="Text 11"/>
          <p:cNvSpPr/>
          <p:nvPr/>
        </p:nvSpPr>
        <p:spPr>
          <a:xfrm>
            <a:off x="9052560" y="2488997"/>
            <a:ext cx="2468880" cy="457200"/>
          </a:xfrm>
          <a:prstGeom prst="rect">
            <a:avLst/>
          </a:prstGeom>
          <a:noFill/>
          <a:ln/>
        </p:spPr>
        <p:txBody>
          <a:bodyPr wrap="square" lIns="0" tIns="0" rIns="0" bIns="0" rtlCol="0" anchor="ctr"/>
          <a:lstStyle/>
          <a:p>
            <a:pPr algn="ctr" indent="0" marL="0">
              <a:buNone/>
            </a:pPr>
            <a:r>
              <a:rPr lang="en-US" sz="1200" dirty="0">
                <a:solidFill>
                  <a:srgbClr val="5A6272"/>
                </a:solidFill>
                <a:latin typeface="Calibri" pitchFamily="34" charset="0"/>
                <a:ea typeface="Calibri" pitchFamily="34" charset="-122"/>
                <a:cs typeface="Calibri" pitchFamily="34" charset="-120"/>
              </a:rPr>
              <a:t>classi</a:t>
            </a:r>
            <a:endParaRPr lang="en-US" sz="1200" dirty="0"/>
          </a:p>
          <a:p>
            <a:pPr algn="ctr" indent="0" marL="0">
              <a:buNone/>
            </a:pPr>
            <a:r>
              <a:rPr lang="en-US" sz="1200" dirty="0">
                <a:solidFill>
                  <a:srgbClr val="5A6272"/>
                </a:solidFill>
                <a:latin typeface="Calibri" pitchFamily="34" charset="0"/>
                <a:ea typeface="Calibri" pitchFamily="34" charset="-122"/>
                <a:cs typeface="Calibri" pitchFamily="34" charset="-120"/>
              </a:rPr>
              <a:t>acustiche</a:t>
            </a:r>
            <a:endParaRPr lang="en-US" sz="1200" dirty="0"/>
          </a:p>
        </p:txBody>
      </p:sp>
      <p:sp>
        <p:nvSpPr>
          <p:cNvPr id="14" name="Shape 12"/>
          <p:cNvSpPr/>
          <p:nvPr/>
        </p:nvSpPr>
        <p:spPr>
          <a:xfrm>
            <a:off x="822960" y="3941064"/>
            <a:ext cx="5120640" cy="1989734"/>
          </a:xfrm>
          <a:prstGeom prst="roundRect">
            <a:avLst>
              <a:gd name="adj" fmla="val 3676"/>
            </a:avLst>
          </a:prstGeom>
          <a:solidFill>
            <a:srgbClr val="F5F7FC"/>
          </a:solidFill>
          <a:ln w="12700">
            <a:solidFill>
              <a:srgbClr val="E3E7F0"/>
            </a:solidFill>
            <a:prstDash val="solid"/>
          </a:ln>
        </p:spPr>
      </p:sp>
      <p:sp>
        <p:nvSpPr>
          <p:cNvPr id="15" name="Text 13"/>
          <p:cNvSpPr/>
          <p:nvPr/>
        </p:nvSpPr>
        <p:spPr>
          <a:xfrm>
            <a:off x="1078992" y="4142232"/>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Architettura</a:t>
            </a:r>
            <a:endParaRPr lang="en-US" sz="1500" dirty="0"/>
          </a:p>
        </p:txBody>
      </p:sp>
      <p:sp>
        <p:nvSpPr>
          <p:cNvPr id="16" name="Text 14"/>
          <p:cNvSpPr/>
          <p:nvPr/>
        </p:nvSpPr>
        <p:spPr>
          <a:xfrm>
            <a:off x="1078992" y="4471416"/>
            <a:ext cx="4608576" cy="123992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Tre convoluzioni standard, pooling, uno strato denso. Nessuna convoluzione separabile: il kernel int8 di TensorFlow Lite Micro si bloccava sul Cortex-M0+.</a:t>
            </a:r>
            <a:endParaRPr lang="en-US" sz="1300" dirty="0"/>
          </a:p>
        </p:txBody>
      </p:sp>
      <p:sp>
        <p:nvSpPr>
          <p:cNvPr id="17" name="Shape 15"/>
          <p:cNvSpPr/>
          <p:nvPr/>
        </p:nvSpPr>
        <p:spPr>
          <a:xfrm>
            <a:off x="6309360" y="3941064"/>
            <a:ext cx="5120640" cy="1989734"/>
          </a:xfrm>
          <a:prstGeom prst="roundRect">
            <a:avLst>
              <a:gd name="adj" fmla="val 3676"/>
            </a:avLst>
          </a:prstGeom>
          <a:solidFill>
            <a:srgbClr val="FDF6E8"/>
          </a:solidFill>
          <a:ln w="12700">
            <a:solidFill>
              <a:srgbClr val="E3E7F0"/>
            </a:solidFill>
            <a:prstDash val="solid"/>
          </a:ln>
        </p:spPr>
      </p:sp>
      <p:sp>
        <p:nvSpPr>
          <p:cNvPr id="18" name="Text 16"/>
          <p:cNvSpPr/>
          <p:nvPr/>
        </p:nvSpPr>
        <p:spPr>
          <a:xfrm>
            <a:off x="6565392" y="4142232"/>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Il divario che conta</a:t>
            </a:r>
            <a:endParaRPr lang="en-US" sz="1500" dirty="0"/>
          </a:p>
        </p:txBody>
      </p:sp>
      <p:sp>
        <p:nvSpPr>
          <p:cNvPr id="19" name="Text 17"/>
          <p:cNvSpPr/>
          <p:nvPr/>
        </p:nvSpPr>
        <p:spPr>
          <a:xfrm>
            <a:off x="6565392" y="4471416"/>
            <a:ext cx="4608576" cy="123992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88,9% sul dataset, 42,7% sulle registrazioni fatte con il microfono reale. L'adattamento di dominio lo ha riportato al 65,2%.</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MACCHINA A STATI</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Dove la rete non può arrivare</a:t>
            </a:r>
            <a:endParaRPr lang="en-US" sz="3200" dirty="0"/>
          </a:p>
        </p:txBody>
      </p:sp>
      <p:sp>
        <p:nvSpPr>
          <p:cNvPr id="6" name="Text 4"/>
          <p:cNvSpPr/>
          <p:nvPr/>
        </p:nvSpPr>
        <p:spPr>
          <a:xfrm>
            <a:off x="822960" y="1600200"/>
            <a:ext cx="10607040" cy="468173"/>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Alcuni eventi non esistono dentro una finestra da un secondo.</a:t>
            </a:r>
            <a:endParaRPr lang="en-US" sz="1500" dirty="0"/>
          </a:p>
        </p:txBody>
      </p:sp>
      <p:sp>
        <p:nvSpPr>
          <p:cNvPr id="7" name="Shape 5"/>
          <p:cNvSpPr/>
          <p:nvPr/>
        </p:nvSpPr>
        <p:spPr>
          <a:xfrm>
            <a:off x="822960" y="2243938"/>
            <a:ext cx="3383280" cy="1755648"/>
          </a:xfrm>
          <a:prstGeom prst="roundRect">
            <a:avLst>
              <a:gd name="adj" fmla="val 4167"/>
            </a:avLst>
          </a:prstGeom>
          <a:solidFill>
            <a:srgbClr val="F5F7FC"/>
          </a:solidFill>
          <a:ln w="12700">
            <a:solidFill>
              <a:srgbClr val="E3E7F0"/>
            </a:solidFill>
            <a:prstDash val="solid"/>
          </a:ln>
        </p:spPr>
      </p:sp>
      <p:sp>
        <p:nvSpPr>
          <p:cNvPr id="8" name="Text 6"/>
          <p:cNvSpPr/>
          <p:nvPr/>
        </p:nvSpPr>
        <p:spPr>
          <a:xfrm>
            <a:off x="1078992" y="2445106"/>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Sparo o fuochi?</a:t>
            </a:r>
            <a:endParaRPr lang="en-US" sz="1500" dirty="0"/>
          </a:p>
        </p:txBody>
      </p:sp>
      <p:sp>
        <p:nvSpPr>
          <p:cNvPr id="9" name="Text 7"/>
          <p:cNvSpPr/>
          <p:nvPr/>
        </p:nvSpPr>
        <p:spPr>
          <a:xfrm>
            <a:off x="1078992" y="2774290"/>
            <a:ext cx="2871216" cy="1005840"/>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Acusticamente identici. Li distingue solo la ripetizione nel tempo.</a:t>
            </a:r>
            <a:endParaRPr lang="en-US" sz="1300" dirty="0"/>
          </a:p>
        </p:txBody>
      </p:sp>
      <p:sp>
        <p:nvSpPr>
          <p:cNvPr id="10" name="Shape 8"/>
          <p:cNvSpPr/>
          <p:nvPr/>
        </p:nvSpPr>
        <p:spPr>
          <a:xfrm>
            <a:off x="4434840" y="2243938"/>
            <a:ext cx="3383280" cy="1755648"/>
          </a:xfrm>
          <a:prstGeom prst="roundRect">
            <a:avLst>
              <a:gd name="adj" fmla="val 4167"/>
            </a:avLst>
          </a:prstGeom>
          <a:solidFill>
            <a:srgbClr val="F5F7FC"/>
          </a:solidFill>
          <a:ln w="12700">
            <a:solidFill>
              <a:srgbClr val="E3E7F0"/>
            </a:solidFill>
            <a:prstDash val="solid"/>
          </a:ln>
        </p:spPr>
      </p:sp>
      <p:sp>
        <p:nvSpPr>
          <p:cNvPr id="11" name="Text 9"/>
          <p:cNvSpPr/>
          <p:nvPr/>
        </p:nvSpPr>
        <p:spPr>
          <a:xfrm>
            <a:off x="4690872" y="2445106"/>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Incidente</a:t>
            </a:r>
            <a:endParaRPr lang="en-US" sz="1500" dirty="0"/>
          </a:p>
        </p:txBody>
      </p:sp>
      <p:sp>
        <p:nvSpPr>
          <p:cNvPr id="12" name="Text 10"/>
          <p:cNvSpPr/>
          <p:nvPr/>
        </p:nvSpPr>
        <p:spPr>
          <a:xfrm>
            <a:off x="4690872" y="2774290"/>
            <a:ext cx="2871216" cy="1005840"/>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Non è un suono: è una sequenza — stridio, impatto, vetri.</a:t>
            </a:r>
            <a:endParaRPr lang="en-US" sz="1300" dirty="0"/>
          </a:p>
        </p:txBody>
      </p:sp>
      <p:sp>
        <p:nvSpPr>
          <p:cNvPr id="13" name="Shape 11"/>
          <p:cNvSpPr/>
          <p:nvPr/>
        </p:nvSpPr>
        <p:spPr>
          <a:xfrm>
            <a:off x="8046720" y="2243938"/>
            <a:ext cx="3383280" cy="1755648"/>
          </a:xfrm>
          <a:prstGeom prst="roundRect">
            <a:avLst>
              <a:gd name="adj" fmla="val 4167"/>
            </a:avLst>
          </a:prstGeom>
          <a:solidFill>
            <a:srgbClr val="F5F7FC"/>
          </a:solidFill>
          <a:ln w="12700">
            <a:solidFill>
              <a:srgbClr val="E3E7F0"/>
            </a:solidFill>
            <a:prstDash val="solid"/>
          </a:ln>
        </p:spPr>
      </p:sp>
      <p:sp>
        <p:nvSpPr>
          <p:cNvPr id="14" name="Text 12"/>
          <p:cNvSpPr/>
          <p:nvPr/>
        </p:nvSpPr>
        <p:spPr>
          <a:xfrm>
            <a:off x="8302752" y="2445106"/>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Precondizioni</a:t>
            </a:r>
            <a:endParaRPr lang="en-US" sz="1500" dirty="0"/>
          </a:p>
        </p:txBody>
      </p:sp>
      <p:sp>
        <p:nvSpPr>
          <p:cNvPr id="15" name="Text 13"/>
          <p:cNvSpPr/>
          <p:nvPr/>
        </p:nvSpPr>
        <p:spPr>
          <a:xfrm>
            <a:off x="8302752" y="2774290"/>
            <a:ext cx="2871216" cy="1005840"/>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Senza veicoli o persone nell'ultimo secondo, un impatto è solo un rumore.</a:t>
            </a:r>
            <a:endParaRPr lang="en-US" sz="1300" dirty="0"/>
          </a:p>
        </p:txBody>
      </p:sp>
      <p:sp>
        <p:nvSpPr>
          <p:cNvPr id="16" name="Shape 14"/>
          <p:cNvSpPr/>
          <p:nvPr/>
        </p:nvSpPr>
        <p:spPr>
          <a:xfrm>
            <a:off x="822960" y="4292194"/>
            <a:ext cx="10607040" cy="1638605"/>
          </a:xfrm>
          <a:prstGeom prst="roundRect">
            <a:avLst>
              <a:gd name="adj" fmla="val 4464"/>
            </a:avLst>
          </a:prstGeom>
          <a:solidFill>
            <a:srgbClr val="EAF7F2"/>
          </a:solidFill>
          <a:ln w="12700">
            <a:solidFill>
              <a:srgbClr val="E3E7F0"/>
            </a:solidFill>
            <a:prstDash val="solid"/>
          </a:ln>
        </p:spPr>
      </p:sp>
      <p:sp>
        <p:nvSpPr>
          <p:cNvPr id="17" name="Text 15"/>
          <p:cNvSpPr/>
          <p:nvPr/>
        </p:nvSpPr>
        <p:spPr>
          <a:xfrm>
            <a:off x="1078992" y="4493362"/>
            <a:ext cx="100949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 vincolo categorico si scrive, non si fa dedurre</a:t>
            </a:r>
            <a:endParaRPr lang="en-US" sz="1500" dirty="0"/>
          </a:p>
        </p:txBody>
      </p:sp>
      <p:sp>
        <p:nvSpPr>
          <p:cNvPr id="18" name="Text 16"/>
          <p:cNvSpPr/>
          <p:nvPr/>
        </p:nvSpPr>
        <p:spPr>
          <a:xfrm>
            <a:off x="1078992" y="4822546"/>
            <a:ext cx="10094976" cy="888797"/>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Livelli smorzati per le classi continue, eventi con tempo morto per quelle impulsive, isteresi di 5 s sugli stati. Otto stati, dal fondo urbano al possibile incidente. Costo: decine di microsecondi per ciclo.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INTERAZIONE</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Un pulsante, nessun task in più</a:t>
            </a:r>
            <a:endParaRPr lang="en-US" sz="3200" dirty="0"/>
          </a:p>
        </p:txBody>
      </p:sp>
      <p:sp>
        <p:nvSpPr>
          <p:cNvPr id="6" name="Text 4"/>
          <p:cNvSpPr/>
          <p:nvPr/>
        </p:nvSpPr>
        <p:spPr>
          <a:xfrm>
            <a:off x="822960" y="1600200"/>
            <a:ext cx="10607040" cy="365760"/>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Premendolo, il PC riproduce un campione: serve a mostrare il riconoscimento dal vivo.</a:t>
            </a:r>
            <a:endParaRPr lang="en-US" sz="1500" dirty="0"/>
          </a:p>
        </p:txBody>
      </p:sp>
      <p:sp>
        <p:nvSpPr>
          <p:cNvPr id="7" name="Shape 5"/>
          <p:cNvSpPr/>
          <p:nvPr/>
        </p:nvSpPr>
        <p:spPr>
          <a:xfrm>
            <a:off x="822960" y="2103120"/>
            <a:ext cx="3383280" cy="1755648"/>
          </a:xfrm>
          <a:prstGeom prst="roundRect">
            <a:avLst>
              <a:gd name="adj" fmla="val 4167"/>
            </a:avLst>
          </a:prstGeom>
          <a:solidFill>
            <a:srgbClr val="F5F7FC"/>
          </a:solidFill>
          <a:ln w="12700">
            <a:solidFill>
              <a:srgbClr val="E3E7F0"/>
            </a:solidFill>
            <a:prstDash val="solid"/>
          </a:ln>
        </p:spPr>
      </p:sp>
      <p:sp>
        <p:nvSpPr>
          <p:cNvPr id="8" name="Text 6"/>
          <p:cNvSpPr/>
          <p:nvPr/>
        </p:nvSpPr>
        <p:spPr>
          <a:xfrm>
            <a:off x="1078992" y="2304288"/>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Letto da Task_DSP</a:t>
            </a:r>
            <a:endParaRPr lang="en-US" sz="1500" dirty="0"/>
          </a:p>
        </p:txBody>
      </p:sp>
      <p:sp>
        <p:nvSpPr>
          <p:cNvPr id="9" name="Text 7"/>
          <p:cNvSpPr/>
          <p:nvPr/>
        </p:nvSpPr>
        <p:spPr>
          <a:xfrm>
            <a:off x="1078992" y="2633472"/>
            <a:ext cx="2871216" cy="1005840"/>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Periodo fisso di 32 ms e mai bloccante: il campionamento è deterministico. Task_Serial può restare occupato per secondi.</a:t>
            </a:r>
            <a:endParaRPr lang="en-US" sz="1300" dirty="0"/>
          </a:p>
        </p:txBody>
      </p:sp>
      <p:sp>
        <p:nvSpPr>
          <p:cNvPr id="10" name="Shape 8"/>
          <p:cNvSpPr/>
          <p:nvPr/>
        </p:nvSpPr>
        <p:spPr>
          <a:xfrm>
            <a:off x="4434840" y="2103120"/>
            <a:ext cx="3383280" cy="1755648"/>
          </a:xfrm>
          <a:prstGeom prst="roundRect">
            <a:avLst>
              <a:gd name="adj" fmla="val 4167"/>
            </a:avLst>
          </a:prstGeom>
          <a:solidFill>
            <a:srgbClr val="F5F7FC"/>
          </a:solidFill>
          <a:ln w="12700">
            <a:solidFill>
              <a:srgbClr val="E3E7F0"/>
            </a:solidFill>
            <a:prstDash val="solid"/>
          </a:ln>
        </p:spPr>
      </p:sp>
      <p:sp>
        <p:nvSpPr>
          <p:cNvPr id="11" name="Text 9"/>
          <p:cNvSpPr/>
          <p:nvPr/>
        </p:nvSpPr>
        <p:spPr>
          <a:xfrm>
            <a:off x="4690872" y="2304288"/>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Antirimbalzo gratuito</a:t>
            </a:r>
            <a:endParaRPr lang="en-US" sz="1500" dirty="0"/>
          </a:p>
        </p:txBody>
      </p:sp>
      <p:sp>
        <p:nvSpPr>
          <p:cNvPr id="12" name="Text 10"/>
          <p:cNvSpPr/>
          <p:nvPr/>
        </p:nvSpPr>
        <p:spPr>
          <a:xfrm>
            <a:off x="4690872" y="2633472"/>
            <a:ext cx="2871216" cy="1005840"/>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Tre letture consecutive a 32 ms, in entrambi i versi. Nessun timer: la base dei tempi è la periodicità del task.</a:t>
            </a:r>
            <a:endParaRPr lang="en-US" sz="1300" dirty="0"/>
          </a:p>
        </p:txBody>
      </p:sp>
      <p:sp>
        <p:nvSpPr>
          <p:cNvPr id="13" name="Shape 11"/>
          <p:cNvSpPr/>
          <p:nvPr/>
        </p:nvSpPr>
        <p:spPr>
          <a:xfrm>
            <a:off x="8046720" y="2103120"/>
            <a:ext cx="3383280" cy="1755648"/>
          </a:xfrm>
          <a:prstGeom prst="roundRect">
            <a:avLst>
              <a:gd name="adj" fmla="val 4167"/>
            </a:avLst>
          </a:prstGeom>
          <a:solidFill>
            <a:srgbClr val="EAF7F2"/>
          </a:solidFill>
          <a:ln w="12700">
            <a:solidFill>
              <a:srgbClr val="E3E7F0"/>
            </a:solidFill>
            <a:prstDash val="solid"/>
          </a:ln>
        </p:spPr>
      </p:sp>
      <p:sp>
        <p:nvSpPr>
          <p:cNvPr id="14" name="Text 12"/>
          <p:cNvSpPr/>
          <p:nvPr/>
        </p:nvSpPr>
        <p:spPr>
          <a:xfrm>
            <a:off x="8302752" y="2304288"/>
            <a:ext cx="287121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Costo trascurabile</a:t>
            </a:r>
            <a:endParaRPr lang="en-US" sz="1500" dirty="0"/>
          </a:p>
        </p:txBody>
      </p:sp>
      <p:sp>
        <p:nvSpPr>
          <p:cNvPr id="15" name="Text 13"/>
          <p:cNvSpPr/>
          <p:nvPr/>
        </p:nvSpPr>
        <p:spPr>
          <a:xfrm>
            <a:off x="8302752" y="2633472"/>
            <a:ext cx="2871216" cy="1005840"/>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Due letture di un registro GPIO. Decine di nanosecondi su un budget di 32 ms: l'analisi non cambia.</a:t>
            </a:r>
            <a:endParaRPr lang="en-US" sz="1300" dirty="0"/>
          </a:p>
        </p:txBody>
      </p:sp>
      <p:sp>
        <p:nvSpPr>
          <p:cNvPr id="16" name="Shape 14"/>
          <p:cNvSpPr/>
          <p:nvPr/>
        </p:nvSpPr>
        <p:spPr>
          <a:xfrm>
            <a:off x="822960" y="4069080"/>
            <a:ext cx="10607040" cy="1188720"/>
          </a:xfrm>
          <a:prstGeom prst="roundRect">
            <a:avLst>
              <a:gd name="adj" fmla="val 6154"/>
            </a:avLst>
          </a:prstGeom>
          <a:solidFill>
            <a:srgbClr val="1E2761"/>
          </a:solidFill>
          <a:ln/>
        </p:spPr>
      </p:sp>
      <p:sp>
        <p:nvSpPr>
          <p:cNvPr id="17" name="Text 15"/>
          <p:cNvSpPr/>
          <p:nvPr/>
        </p:nvSpPr>
        <p:spPr>
          <a:xfrm>
            <a:off x="1143000" y="4315968"/>
            <a:ext cx="9966960" cy="731520"/>
          </a:xfrm>
          <a:prstGeom prst="rect">
            <a:avLst/>
          </a:prstGeom>
          <a:noFill/>
          <a:ln/>
        </p:spPr>
        <p:txBody>
          <a:bodyPr wrap="square" lIns="0" tIns="0" rIns="0" bIns="0" rtlCol="0" anchor="ctr"/>
          <a:lstStyle/>
          <a:p>
            <a:pPr indent="0" marL="0">
              <a:lnSpc>
                <a:spcPts val="2100"/>
              </a:lnSpc>
              <a:buNone/>
            </a:pPr>
            <a:r>
              <a:rPr lang="en-US" sz="1500" dirty="0">
                <a:solidFill>
                  <a:srgbClr val="FFFFFF"/>
                </a:solidFill>
                <a:latin typeface="Calibri" pitchFamily="34" charset="0"/>
                <a:ea typeface="Calibri" pitchFamily="34" charset="-122"/>
                <a:cs typeface="Calibri" pitchFamily="34" charset="-120"/>
              </a:rPr>
              <a:t>Pressione → 96 ms di antirimbalzo → 20 ms di attesa del turno → USB.  Sotto 150 ms, dentro la soglia di risposta immediata.</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84048" cy="384048"/>
          </a:xfrm>
          <a:prstGeom prst="ellipse">
            <a:avLst/>
          </a:prstGeom>
          <a:solidFill>
            <a:srgbClr val="1E2761"/>
          </a:solidFill>
          <a:ln/>
        </p:spPr>
      </p:sp>
      <p:sp>
        <p:nvSpPr>
          <p:cNvPr id="3" name="Text 1"/>
          <p:cNvSpPr/>
          <p:nvPr/>
        </p:nvSpPr>
        <p:spPr>
          <a:xfrm>
            <a:off x="548640" y="411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4" name="Text 2"/>
          <p:cNvSpPr/>
          <p:nvPr/>
        </p:nvSpPr>
        <p:spPr>
          <a:xfrm>
            <a:off x="1097280" y="402336"/>
            <a:ext cx="10515600" cy="201168"/>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BILANCIO</a:t>
            </a:r>
            <a:endParaRPr lang="en-US" sz="1100" dirty="0"/>
          </a:p>
        </p:txBody>
      </p:sp>
      <p:sp>
        <p:nvSpPr>
          <p:cNvPr id="5" name="Text 3"/>
          <p:cNvSpPr/>
          <p:nvPr/>
        </p:nvSpPr>
        <p:spPr>
          <a:xfrm>
            <a:off x="1097280" y="621792"/>
            <a:ext cx="10515600"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Cosa funziona e cosa no</a:t>
            </a:r>
            <a:endParaRPr lang="en-US" sz="3200" dirty="0"/>
          </a:p>
        </p:txBody>
      </p:sp>
      <p:sp>
        <p:nvSpPr>
          <p:cNvPr id="6" name="Shape 4"/>
          <p:cNvSpPr/>
          <p:nvPr/>
        </p:nvSpPr>
        <p:spPr>
          <a:xfrm>
            <a:off x="822960" y="1658722"/>
            <a:ext cx="5120640" cy="2691994"/>
          </a:xfrm>
          <a:prstGeom prst="roundRect">
            <a:avLst>
              <a:gd name="adj" fmla="val 2717"/>
            </a:avLst>
          </a:prstGeom>
          <a:solidFill>
            <a:srgbClr val="EAF7F2"/>
          </a:solidFill>
          <a:ln w="12700">
            <a:solidFill>
              <a:srgbClr val="E3E7F0"/>
            </a:solidFill>
            <a:prstDash val="solid"/>
          </a:ln>
        </p:spPr>
      </p:sp>
      <p:sp>
        <p:nvSpPr>
          <p:cNvPr id="7" name="Text 5"/>
          <p:cNvSpPr/>
          <p:nvPr/>
        </p:nvSpPr>
        <p:spPr>
          <a:xfrm>
            <a:off x="1078992" y="1859890"/>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Raggiunto</a:t>
            </a:r>
            <a:endParaRPr lang="en-US" sz="1500" dirty="0"/>
          </a:p>
        </p:txBody>
      </p:sp>
      <p:sp>
        <p:nvSpPr>
          <p:cNvPr id="8" name="Text 6"/>
          <p:cNvSpPr/>
          <p:nvPr/>
        </p:nvSpPr>
        <p:spPr>
          <a:xfrm>
            <a:off x="1078992" y="2189074"/>
            <a:ext cx="4608576" cy="194218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Schedulabile con 37% di margine, dimostrato analiticamente.</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In ore di funzionamento: 0 overrun ADC, 0 finestre scartate, jitter del DSP sotto l'1,5%.</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L'audio non lascia mai il dispositivo.</a:t>
            </a:r>
            <a:endParaRPr lang="en-US" sz="1300" dirty="0"/>
          </a:p>
        </p:txBody>
      </p:sp>
      <p:sp>
        <p:nvSpPr>
          <p:cNvPr id="9" name="Shape 7"/>
          <p:cNvSpPr/>
          <p:nvPr/>
        </p:nvSpPr>
        <p:spPr>
          <a:xfrm>
            <a:off x="6309360" y="1658722"/>
            <a:ext cx="5120640" cy="2691994"/>
          </a:xfrm>
          <a:prstGeom prst="roundRect">
            <a:avLst>
              <a:gd name="adj" fmla="val 2717"/>
            </a:avLst>
          </a:prstGeom>
          <a:solidFill>
            <a:srgbClr val="FDF6E8"/>
          </a:solidFill>
          <a:ln w="12700">
            <a:solidFill>
              <a:srgbClr val="E3E7F0"/>
            </a:solidFill>
            <a:prstDash val="solid"/>
          </a:ln>
        </p:spPr>
      </p:sp>
      <p:sp>
        <p:nvSpPr>
          <p:cNvPr id="10" name="Text 8"/>
          <p:cNvSpPr/>
          <p:nvPr/>
        </p:nvSpPr>
        <p:spPr>
          <a:xfrm>
            <a:off x="6565392" y="1859890"/>
            <a:ext cx="46085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Limiti</a:t>
            </a:r>
            <a:endParaRPr lang="en-US" sz="1500" dirty="0"/>
          </a:p>
        </p:txBody>
      </p:sp>
      <p:sp>
        <p:nvSpPr>
          <p:cNvPr id="11" name="Text 9"/>
          <p:cNvSpPr/>
          <p:nvPr/>
        </p:nvSpPr>
        <p:spPr>
          <a:xfrm>
            <a:off x="6565392" y="2189074"/>
            <a:ext cx="4608576" cy="1942186"/>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L'accuratezza reale è 65%, contro l'89% sul dataset: il microfono su ADC a 12 bit è il collo di bottiglia.</a:t>
            </a:r>
            <a:endParaRPr lang="en-US" sz="1300" dirty="0"/>
          </a:p>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Classi come ambiente urbano e veicoli restano poco separabili.</a:t>
            </a:r>
            <a:endParaRPr lang="en-US" sz="1300" dirty="0"/>
          </a:p>
        </p:txBody>
      </p:sp>
      <p:sp>
        <p:nvSpPr>
          <p:cNvPr id="12" name="Shape 10"/>
          <p:cNvSpPr/>
          <p:nvPr/>
        </p:nvSpPr>
        <p:spPr>
          <a:xfrm>
            <a:off x="822960" y="4584802"/>
            <a:ext cx="10607040" cy="1345997"/>
          </a:xfrm>
          <a:prstGeom prst="roundRect">
            <a:avLst>
              <a:gd name="adj" fmla="val 5435"/>
            </a:avLst>
          </a:prstGeom>
          <a:solidFill>
            <a:srgbClr val="F5F7FC"/>
          </a:solidFill>
          <a:ln w="12700">
            <a:solidFill>
              <a:srgbClr val="E3E7F0"/>
            </a:solidFill>
            <a:prstDash val="solid"/>
          </a:ln>
        </p:spPr>
      </p:sp>
      <p:sp>
        <p:nvSpPr>
          <p:cNvPr id="13" name="Text 11"/>
          <p:cNvSpPr/>
          <p:nvPr/>
        </p:nvSpPr>
        <p:spPr>
          <a:xfrm>
            <a:off x="1078992" y="4785970"/>
            <a:ext cx="10094976"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Il passo successivo</a:t>
            </a:r>
            <a:endParaRPr lang="en-US" sz="1500" dirty="0"/>
          </a:p>
        </p:txBody>
      </p:sp>
      <p:sp>
        <p:nvSpPr>
          <p:cNvPr id="14" name="Text 12"/>
          <p:cNvSpPr/>
          <p:nvPr/>
        </p:nvSpPr>
        <p:spPr>
          <a:xfrm>
            <a:off x="1078992" y="5115154"/>
            <a:ext cx="10094976" cy="596189"/>
          </a:xfrm>
          <a:prstGeom prst="rect">
            <a:avLst/>
          </a:prstGeom>
          <a:noFill/>
          <a:ln/>
        </p:spPr>
        <p:txBody>
          <a:bodyPr wrap="square" lIns="0" tIns="0" rIns="0" bIns="0" rtlCol="0" anchor="ctr"/>
          <a:lstStyle/>
          <a:p>
            <a:pPr indent="0" marL="0">
              <a:lnSpc>
                <a:spcPts val="1800"/>
              </a:lnSpc>
              <a:buNone/>
            </a:pPr>
            <a:r>
              <a:rPr lang="en-US" sz="1300" dirty="0">
                <a:solidFill>
                  <a:srgbClr val="5A6272"/>
                </a:solidFill>
                <a:latin typeface="Calibri" pitchFamily="34" charset="0"/>
                <a:ea typeface="Calibri" pitchFamily="34" charset="-122"/>
                <a:cs typeface="Calibri" pitchFamily="34" charset="-120"/>
              </a:rPr>
              <a:t>Un microfono I2S digitale eliminerebbe la catena analogica e, con essa, la maggior parte del divario di accuratezza. Il progetto real-time resterebbe invariato.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C3A"/>
        </a:solidFill>
      </p:bgPr>
    </p:bg>
    <p:spTree>
      <p:nvGrpSpPr>
        <p:cNvPr id="1" name=""/>
        <p:cNvGrpSpPr/>
        <p:nvPr/>
      </p:nvGrpSpPr>
      <p:grpSpPr>
        <a:xfrm>
          <a:off x="0" y="0"/>
          <a:ext cx="0" cy="0"/>
          <a:chOff x="0" y="0"/>
          <a:chExt cx="0" cy="0"/>
        </a:xfrm>
      </p:grpSpPr>
      <p:sp>
        <p:nvSpPr>
          <p:cNvPr id="2" name="Text 0"/>
          <p:cNvSpPr/>
          <p:nvPr/>
        </p:nvSpPr>
        <p:spPr>
          <a:xfrm>
            <a:off x="822960" y="1051560"/>
            <a:ext cx="10515600" cy="594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Tre conclusioni</a:t>
            </a:r>
            <a:endParaRPr lang="en-US" sz="3600" dirty="0"/>
          </a:p>
        </p:txBody>
      </p:sp>
      <p:sp>
        <p:nvSpPr>
          <p:cNvPr id="3" name="Shape 1"/>
          <p:cNvSpPr/>
          <p:nvPr/>
        </p:nvSpPr>
        <p:spPr>
          <a:xfrm>
            <a:off x="822960" y="2114093"/>
            <a:ext cx="365760" cy="365760"/>
          </a:xfrm>
          <a:prstGeom prst="ellipse">
            <a:avLst/>
          </a:prstGeom>
          <a:solidFill>
            <a:srgbClr val="02C39A"/>
          </a:solidFill>
          <a:ln/>
        </p:spPr>
      </p:sp>
      <p:sp>
        <p:nvSpPr>
          <p:cNvPr id="4" name="Text 2"/>
          <p:cNvSpPr/>
          <p:nvPr/>
        </p:nvSpPr>
        <p:spPr>
          <a:xfrm>
            <a:off x="822960" y="2114093"/>
            <a:ext cx="365760" cy="365760"/>
          </a:xfrm>
          <a:prstGeom prst="rect">
            <a:avLst/>
          </a:prstGeom>
          <a:noFill/>
          <a:ln/>
        </p:spPr>
        <p:txBody>
          <a:bodyPr wrap="square" lIns="0" tIns="0" rIns="0" bIns="0" rtlCol="0" anchor="ctr"/>
          <a:lstStyle/>
          <a:p>
            <a:pPr algn="ctr" indent="0" marL="0">
              <a:buNone/>
            </a:pPr>
            <a:r>
              <a:rPr lang="en-US" sz="1400" b="1" dirty="0">
                <a:solidFill>
                  <a:srgbClr val="141C3A"/>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417320" y="2068373"/>
            <a:ext cx="98755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Il vincolo temporale è progettuale, non accessorio</a:t>
            </a:r>
            <a:endParaRPr lang="en-US" sz="1800" dirty="0"/>
          </a:p>
        </p:txBody>
      </p:sp>
      <p:sp>
        <p:nvSpPr>
          <p:cNvPr id="6" name="Text 4"/>
          <p:cNvSpPr/>
          <p:nvPr/>
        </p:nvSpPr>
        <p:spPr>
          <a:xfrm>
            <a:off x="1417320" y="2479853"/>
            <a:ext cx="9875520" cy="548640"/>
          </a:xfrm>
          <a:prstGeom prst="rect">
            <a:avLst/>
          </a:prstGeom>
          <a:noFill/>
          <a:ln/>
        </p:spPr>
        <p:txBody>
          <a:bodyPr wrap="square" lIns="0" tIns="0" rIns="0" bIns="0" rtlCol="0" anchor="ctr"/>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L'architettura in streaming con DMA nasce dalla scadenza di 32 ms, non da una scelta di stile.</a:t>
            </a:r>
            <a:endParaRPr lang="en-US" sz="1300" dirty="0"/>
          </a:p>
        </p:txBody>
      </p:sp>
      <p:sp>
        <p:nvSpPr>
          <p:cNvPr id="7" name="Shape 5"/>
          <p:cNvSpPr/>
          <p:nvPr/>
        </p:nvSpPr>
        <p:spPr>
          <a:xfrm>
            <a:off x="822960" y="3694176"/>
            <a:ext cx="365760" cy="365760"/>
          </a:xfrm>
          <a:prstGeom prst="ellipse">
            <a:avLst/>
          </a:prstGeom>
          <a:solidFill>
            <a:srgbClr val="02C39A"/>
          </a:solidFill>
          <a:ln/>
        </p:spPr>
      </p:sp>
      <p:sp>
        <p:nvSpPr>
          <p:cNvPr id="8" name="Text 6"/>
          <p:cNvSpPr/>
          <p:nvPr/>
        </p:nvSpPr>
        <p:spPr>
          <a:xfrm>
            <a:off x="822960" y="3694176"/>
            <a:ext cx="365760" cy="365760"/>
          </a:xfrm>
          <a:prstGeom prst="rect">
            <a:avLst/>
          </a:prstGeom>
          <a:noFill/>
          <a:ln/>
        </p:spPr>
        <p:txBody>
          <a:bodyPr wrap="square" lIns="0" tIns="0" rIns="0" bIns="0" rtlCol="0" anchor="ctr"/>
          <a:lstStyle/>
          <a:p>
            <a:pPr algn="ctr" indent="0" marL="0">
              <a:buNone/>
            </a:pPr>
            <a:r>
              <a:rPr lang="en-US" sz="1400" b="1" dirty="0">
                <a:solidFill>
                  <a:srgbClr val="141C3A"/>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417320" y="3648456"/>
            <a:ext cx="98755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Il criterio sufficiente non è l'ultima parola</a:t>
            </a:r>
            <a:endParaRPr lang="en-US" sz="1800" dirty="0"/>
          </a:p>
        </p:txBody>
      </p:sp>
      <p:sp>
        <p:nvSpPr>
          <p:cNvPr id="10" name="Text 8"/>
          <p:cNvSpPr/>
          <p:nvPr/>
        </p:nvSpPr>
        <p:spPr>
          <a:xfrm>
            <a:off x="1417320" y="4059936"/>
            <a:ext cx="9875520" cy="548640"/>
          </a:xfrm>
          <a:prstGeom prst="rect">
            <a:avLst/>
          </a:prstGeom>
          <a:noFill/>
          <a:ln/>
        </p:spPr>
        <p:txBody>
          <a:bodyPr wrap="square" lIns="0" tIns="0" rIns="0" bIns="0" rtlCol="0" anchor="ctr"/>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A utilizzo 0,86 il limite di Rate Monotonic è violato, ma l'analisi esatta dimostra 313 ms su 496.</a:t>
            </a:r>
            <a:endParaRPr lang="en-US" sz="1300" dirty="0"/>
          </a:p>
        </p:txBody>
      </p:sp>
      <p:sp>
        <p:nvSpPr>
          <p:cNvPr id="11" name="Shape 9"/>
          <p:cNvSpPr/>
          <p:nvPr/>
        </p:nvSpPr>
        <p:spPr>
          <a:xfrm>
            <a:off x="822960" y="5274259"/>
            <a:ext cx="365760" cy="365760"/>
          </a:xfrm>
          <a:prstGeom prst="ellipse">
            <a:avLst/>
          </a:prstGeom>
          <a:solidFill>
            <a:srgbClr val="02C39A"/>
          </a:solidFill>
          <a:ln/>
        </p:spPr>
      </p:sp>
      <p:sp>
        <p:nvSpPr>
          <p:cNvPr id="12" name="Text 10"/>
          <p:cNvSpPr/>
          <p:nvPr/>
        </p:nvSpPr>
        <p:spPr>
          <a:xfrm>
            <a:off x="822960" y="5274259"/>
            <a:ext cx="365760" cy="365760"/>
          </a:xfrm>
          <a:prstGeom prst="rect">
            <a:avLst/>
          </a:prstGeom>
          <a:noFill/>
          <a:ln/>
        </p:spPr>
        <p:txBody>
          <a:bodyPr wrap="square" lIns="0" tIns="0" rIns="0" bIns="0" rtlCol="0" anchor="ctr"/>
          <a:lstStyle/>
          <a:p>
            <a:pPr algn="ctr" indent="0" marL="0">
              <a:buNone/>
            </a:pPr>
            <a:r>
              <a:rPr lang="en-US" sz="1400" b="1" dirty="0">
                <a:solidFill>
                  <a:srgbClr val="141C3A"/>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417320" y="5228539"/>
            <a:ext cx="98755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Sotto sovraccarico si scarta</a:t>
            </a:r>
            <a:endParaRPr lang="en-US" sz="1800" dirty="0"/>
          </a:p>
        </p:txBody>
      </p:sp>
      <p:sp>
        <p:nvSpPr>
          <p:cNvPr id="14" name="Text 12"/>
          <p:cNvSpPr/>
          <p:nvPr/>
        </p:nvSpPr>
        <p:spPr>
          <a:xfrm>
            <a:off x="1417320" y="5640019"/>
            <a:ext cx="9875520" cy="548640"/>
          </a:xfrm>
          <a:prstGeom prst="rect">
            <a:avLst/>
          </a:prstGeom>
          <a:noFill/>
          <a:ln/>
        </p:spPr>
        <p:txBody>
          <a:bodyPr wrap="square" lIns="0" tIns="0" rIns="0" bIns="0" rtlCol="0" anchor="ctr"/>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Rifiutare lavoro in eccesso è una decisione di progetto, non un ripiego.</a:t>
            </a:r>
            <a:endParaRPr lang="en-US" sz="1300" dirty="0"/>
          </a:p>
        </p:txBody>
      </p:sp>
      <p:sp>
        <p:nvSpPr>
          <p:cNvPr id="15" name="Text 13"/>
          <p:cNvSpPr/>
          <p:nvPr/>
        </p:nvSpPr>
        <p:spPr>
          <a:xfrm>
            <a:off x="822960" y="6263640"/>
            <a:ext cx="10515600" cy="50292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Grazie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City Audio — classificatore acustico su Raspberry Pi Pico</dc:title>
  <dc:subject>PptxGenJS Presentation</dc:subject>
  <dc:creator>Progetto Real Time Embedded System</dc:creator>
  <cp:lastModifiedBy>Progetto Real Time Embedded System</cp:lastModifiedBy>
  <cp:revision>1</cp:revision>
  <dcterms:created xsi:type="dcterms:W3CDTF">2026-08-12T09:58:18Z</dcterms:created>
  <dcterms:modified xsi:type="dcterms:W3CDTF">2026-08-12T09:58:18Z</dcterms:modified>
</cp:coreProperties>
</file>